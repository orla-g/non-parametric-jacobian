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Average" panose="020B0604020202020204" charset="0"/>
      <p:regular r:id="rId18"/>
    </p:embeddedFont>
    <p:embeddedFont>
      <p:font typeface="Oswald" panose="020F0502020204030204" pitchFamily="2"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la Gotthelf" userId="6826097e8bbb17c8" providerId="LiveId" clId="{8A97B283-EEB5-4B3A-AF7E-CD8D9283337A}"/>
    <pc:docChg chg="modSld">
      <pc:chgData name="Orla Gotthelf" userId="6826097e8bbb17c8" providerId="LiveId" clId="{8A97B283-EEB5-4B3A-AF7E-CD8D9283337A}" dt="2025-11-21T14:22:27.010" v="3" actId="20577"/>
      <pc:docMkLst>
        <pc:docMk/>
      </pc:docMkLst>
      <pc:sldChg chg="modSp mod">
        <pc:chgData name="Orla Gotthelf" userId="6826097e8bbb17c8" providerId="LiveId" clId="{8A97B283-EEB5-4B3A-AF7E-CD8D9283337A}" dt="2025-11-21T14:22:27.010" v="3" actId="20577"/>
        <pc:sldMkLst>
          <pc:docMk/>
          <pc:sldMk cId="0" sldId="256"/>
        </pc:sldMkLst>
        <pc:spChg chg="mod">
          <ac:chgData name="Orla Gotthelf" userId="6826097e8bbb17c8" providerId="LiveId" clId="{8A97B283-EEB5-4B3A-AF7E-CD8D9283337A}" dt="2025-11-21T14:22:27.010" v="3" actId="20577"/>
          <ac:spMkLst>
            <pc:docMk/>
            <pc:sldMk cId="0" sldId="256"/>
            <ac:spMk id="6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4868b6381b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4868b6381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4868b6381b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4868b6381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spcBef>
                <a:spcPts val="0"/>
              </a:spcBef>
              <a:spcAft>
                <a:spcPts val="800"/>
              </a:spcAft>
              <a:buNone/>
            </a:pPr>
            <a:r>
              <a:rPr lang="en"/>
              <a:t>Human anatomy such as the human endovascular system is an unstructured, dynamically constrained environment with bifurcations and trifurcations that catheters, robotic or conventional, have to navigate.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4a5651b554_2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4a5651b554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It becomes even more difficult when the pathways are tortuous with kinks and curves that require a lot of deformability. </a:t>
            </a:r>
            <a:endParaRPr/>
          </a:p>
          <a:p>
            <a:pPr marL="0" lvl="0" indent="0" algn="just" rtl="0">
              <a:spcBef>
                <a:spcPts val="800"/>
              </a:spcBef>
              <a:spcAft>
                <a:spcPts val="0"/>
              </a:spcAft>
              <a:buNone/>
            </a:pPr>
            <a:endParaRPr/>
          </a:p>
          <a:p>
            <a:pPr marL="0" lvl="0" indent="0" algn="just" rtl="0">
              <a:spcBef>
                <a:spcPts val="800"/>
              </a:spcBef>
              <a:spcAft>
                <a:spcPts val="0"/>
              </a:spcAft>
              <a:buNone/>
            </a:pPr>
            <a:r>
              <a:rPr lang="en"/>
              <a:t> The compliant nature of soft robots is ideally suited to this task, but its modeling is challenging due to infinite DOF’s and the high degree of non-linearity involved. Previous work in the field has approached the approximate analytical kinematic and dynamic modeling of continuum robots in multiple ways, which are listed comprehensively in [1]. These approximations are based on heavy simplification and require increasingly higher computation power for increasing complexity. Furthermore, unknown environmental factors can account for an inaccurate analytical model approximation. More recently, model-less [2] or kinematic-free control [3] has been used to control the position of a robot without using an explicit model. Wang et al. [4] have experimentally shown that model-free control is more accurate as compared to model-based control in robotic catheters.</a:t>
            </a:r>
            <a:endParaRPr sz="1200"/>
          </a:p>
          <a:p>
            <a:pPr marL="0" lvl="0" indent="0" algn="l" rtl="0">
              <a:lnSpc>
                <a:spcPct val="115000"/>
              </a:lnSpc>
              <a:spcBef>
                <a:spcPts val="800"/>
              </a:spcBef>
              <a:spcAft>
                <a:spcPts val="0"/>
              </a:spcAft>
              <a:buNone/>
            </a:pPr>
            <a:endParaRPr sz="1200"/>
          </a:p>
          <a:p>
            <a:pPr marL="0" lvl="0" indent="0" algn="l" rtl="0">
              <a:lnSpc>
                <a:spcPct val="115000"/>
              </a:lnSpc>
              <a:spcBef>
                <a:spcPts val="0"/>
              </a:spcBef>
              <a:spcAft>
                <a:spcPts val="0"/>
              </a:spcAft>
              <a:buNone/>
            </a:pPr>
            <a:r>
              <a:rPr lang="en" sz="1200"/>
              <a:t>Snake-like or continuum robots used for endovascular or intravascular procedures are not the true definition of a soft robot, i.e. using soft deformable materials. They are various versions of hyper redundant and hard continuum robots. Then, there are soft robots, such as the Stanford Vine which have not been shown to be used endovascularly.</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4a5651b554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4a5651b554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Presently available manipulators are rigid or semi-rigid continuum or hyper-redundant robots. They are not truly soft and so pose a considerable risk to delicate human anatomy in constrained spaces.</a:t>
            </a:r>
            <a:endParaRPr/>
          </a:p>
          <a:p>
            <a:pPr marL="0" lvl="0" indent="0" algn="just" rtl="0">
              <a:spcBef>
                <a:spcPts val="800"/>
              </a:spcBef>
              <a:spcAft>
                <a:spcPts val="0"/>
              </a:spcAft>
              <a:buNone/>
            </a:pPr>
            <a:r>
              <a:rPr lang="en"/>
              <a:t>That’s where soft robots step in. But the control of soft robots is limited by the challenge of deriving the inverse kinematics. Closed-form analytical solutions are not only complicated, but also still remain, at best, an approximation of the non-linearities of soft bodies.</a:t>
            </a:r>
            <a:endParaRPr sz="1200"/>
          </a:p>
          <a:p>
            <a:pPr marL="0" lvl="0" indent="0" algn="l" rtl="0">
              <a:lnSpc>
                <a:spcPct val="115000"/>
              </a:lnSpc>
              <a:spcBef>
                <a:spcPts val="800"/>
              </a:spcBef>
              <a:spcAft>
                <a:spcPts val="0"/>
              </a:spcAft>
              <a:buNone/>
            </a:pP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4868b6381b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4868b638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rgbClr val="000000"/>
              </a:buClr>
              <a:buSzPts val="1100"/>
              <a:buFont typeface="Arial"/>
              <a:buNone/>
            </a:pPr>
            <a:r>
              <a:rPr lang="en"/>
              <a:t>To address that, there has been recent research in the field using kinematic free control.</a:t>
            </a:r>
            <a:endParaRPr/>
          </a:p>
          <a:p>
            <a:pPr marL="0" lvl="0" indent="457200" algn="just" rtl="0">
              <a:spcBef>
                <a:spcPts val="0"/>
              </a:spcBef>
              <a:spcAft>
                <a:spcPts val="0"/>
              </a:spcAft>
              <a:buClr>
                <a:srgbClr val="000000"/>
              </a:buClr>
              <a:buSzPts val="1100"/>
              <a:buFont typeface="Arial"/>
              <a:buNone/>
            </a:pPr>
            <a:endParaRPr/>
          </a:p>
          <a:p>
            <a:pPr marL="0" lvl="0" indent="457200" algn="just" rtl="0">
              <a:spcBef>
                <a:spcPts val="0"/>
              </a:spcBef>
              <a:spcAft>
                <a:spcPts val="0"/>
              </a:spcAft>
              <a:buClr>
                <a:srgbClr val="000000"/>
              </a:buClr>
              <a:buSzPts val="1100"/>
              <a:buFont typeface="Arial"/>
              <a:buNone/>
            </a:pPr>
            <a:r>
              <a:rPr lang="en"/>
              <a:t>Kormushev et al were the first to suggest kinematic free control in a rigid planar robot, whereas model-less control based on inverse jacobian has been used by yip and camarillo to control a pullwire driven continuum robot. This moves in a 2D plane. Wang et al compared the accuracy of conventional analytical and kinematic-free free control and found the latter to be more accurate for robotic catheters, again not truly soft.</a:t>
            </a:r>
            <a:endParaRPr/>
          </a:p>
          <a:p>
            <a:pPr marL="0" lvl="0" indent="457200" algn="just" rtl="0">
              <a:spcBef>
                <a:spcPts val="0"/>
              </a:spcBef>
              <a:spcAft>
                <a:spcPts val="0"/>
              </a:spcAft>
              <a:buClr>
                <a:srgbClr val="000000"/>
              </a:buClr>
              <a:buSzPts val="1100"/>
              <a:buFont typeface="Arial"/>
              <a:buNone/>
            </a:pPr>
            <a:r>
              <a:rPr lang="en"/>
              <a:t>Specifically, in soft robots Giorelli et al employed a feed-forward neural network based learning of the global controller of a 2-cable driven continuum robot which uses an analytical model for initiating the learning. </a:t>
            </a:r>
            <a:endParaRPr/>
          </a:p>
          <a:p>
            <a:pPr marL="0" lvl="0" indent="457200" algn="just" rtl="0">
              <a:spcBef>
                <a:spcPts val="0"/>
              </a:spcBef>
              <a:spcAft>
                <a:spcPts val="0"/>
              </a:spcAft>
              <a:buClr>
                <a:srgbClr val="000000"/>
              </a:buClr>
              <a:buSzPts val="1100"/>
              <a:buFont typeface="Arial"/>
              <a:buNone/>
            </a:pPr>
            <a:r>
              <a:rPr lang="en"/>
              <a:t>Lee et al used a finite element model to initiate the online learning of the inverse jacobian for a soft arm but in the same work they have shown initiation in the workspace to be a superior method</a:t>
            </a:r>
            <a:endParaRPr/>
          </a:p>
          <a:p>
            <a:pPr marL="0" lvl="0" indent="457200" algn="just" rtl="0">
              <a:spcBef>
                <a:spcPts val="0"/>
              </a:spcBef>
              <a:spcAft>
                <a:spcPts val="0"/>
              </a:spcAft>
              <a:buClr>
                <a:srgbClr val="000000"/>
              </a:buClr>
              <a:buSzPts val="1100"/>
              <a:buFont typeface="Arial"/>
              <a:buNone/>
            </a:pPr>
            <a:r>
              <a:rPr lang="en"/>
              <a:t>This list is by no means exhaustive but we couldn’t find any experiments on a 3-cable driven soft arm with no backbone using jacobian estimation based purely on workspace exploration</a:t>
            </a:r>
            <a:endParaRPr/>
          </a:p>
          <a:p>
            <a:pPr marL="0" lvl="0" indent="0" algn="l" rtl="0">
              <a:spcBef>
                <a:spcPts val="0"/>
              </a:spcBef>
              <a:spcAft>
                <a:spcPts val="0"/>
              </a:spcAft>
              <a:buClr>
                <a:srgbClr val="000000"/>
              </a:buClr>
              <a:buSzPts val="1100"/>
              <a:buFont typeface="Arial"/>
              <a:buNone/>
            </a:pPr>
            <a:r>
              <a:rPr lang="en" sz="1000"/>
              <a:t>Our research aims to address this gap by determining how accurately the tip positions of a three-cable driven soft arm can be mapped to cable lengthn as a non-parametric Jacobian learned from physical  taskspace  exploration. </a:t>
            </a:r>
            <a:endParaRPr sz="1000"/>
          </a:p>
          <a:p>
            <a:pPr marL="0" lvl="0" indent="457200" algn="just" rtl="0">
              <a:spcBef>
                <a:spcPts val="0"/>
              </a:spcBef>
              <a:spcAft>
                <a:spcPts val="0"/>
              </a:spcAft>
              <a:buClr>
                <a:srgbClr val="000000"/>
              </a:buClr>
              <a:buSzPts val="1100"/>
              <a:buFont typeface="Arial"/>
              <a:buNone/>
            </a:pPr>
            <a:endParaRPr/>
          </a:p>
          <a:p>
            <a:pPr marL="0" lvl="0" indent="0" algn="l" rtl="0">
              <a:spcBef>
                <a:spcPts val="0"/>
              </a:spcBef>
              <a:spcAft>
                <a:spcPts val="0"/>
              </a:spcAft>
              <a:buClr>
                <a:srgbClr val="000000"/>
              </a:buClr>
              <a:buSzPts val="1100"/>
              <a:buFont typeface="Arial"/>
              <a:buNone/>
            </a:pPr>
            <a:r>
              <a:rPr lang="en" sz="1000"/>
              <a:t>To achieve this objective, our aims were to design  and  build  a  3-cable  driven  soft  arm  with  a  position tracking  system,  estimate  the  numerical  Jacobian  mapping end-effector positions and cable actuation, and implement the Jacobian estimation in an algorithm for achieving desired end-</a:t>
            </a:r>
            <a:endParaRPr sz="1000"/>
          </a:p>
          <a:p>
            <a:pPr marL="0" lvl="0" indent="0" algn="l" rtl="0">
              <a:spcBef>
                <a:spcPts val="0"/>
              </a:spcBef>
              <a:spcAft>
                <a:spcPts val="0"/>
              </a:spcAft>
              <a:buClr>
                <a:srgbClr val="000000"/>
              </a:buClr>
              <a:buSzPts val="1100"/>
              <a:buFont typeface="Arial"/>
              <a:buNone/>
            </a:pPr>
            <a:r>
              <a:rPr lang="en" sz="1000"/>
              <a:t>effector  positions</a:t>
            </a:r>
            <a:endParaRPr sz="1000"/>
          </a:p>
          <a:p>
            <a:pPr marL="0" lvl="0" indent="457200" algn="just" rtl="0">
              <a:spcBef>
                <a:spcPts val="0"/>
              </a:spcBef>
              <a:spcAft>
                <a:spcPts val="0"/>
              </a:spcAft>
              <a:buClr>
                <a:srgbClr val="000000"/>
              </a:buClr>
              <a:buSzPts val="1100"/>
              <a:buFont typeface="Arial"/>
              <a:buNone/>
            </a:pPr>
            <a:endParaRPr/>
          </a:p>
          <a:p>
            <a:pPr marL="406400" lvl="0" indent="-406400" algn="l" rtl="0">
              <a:spcBef>
                <a:spcPts val="0"/>
              </a:spcBef>
              <a:spcAft>
                <a:spcPts val="0"/>
              </a:spcAft>
              <a:buClr>
                <a:srgbClr val="000000"/>
              </a:buClr>
              <a:buSzPts val="1100"/>
              <a:buFont typeface="Arial"/>
              <a:buNone/>
            </a:pPr>
            <a:r>
              <a:rPr lang="en" sz="900"/>
              <a:t>M. C. Yip and D. B. Camarillo, “Model-less Hybrid Position/Force control: A Minimalist Approach for Continuum Manipulators in Unknown, Constrained Environments,” </a:t>
            </a:r>
            <a:r>
              <a:rPr lang="en" sz="900" i="1"/>
              <a:t>IEEE Robot. Autom. Lett.</a:t>
            </a:r>
            <a:r>
              <a:rPr lang="en" sz="900"/>
              <a:t>, vol. 1, no. 2, pp. 844–851, 2016.</a:t>
            </a:r>
            <a:endParaRPr sz="900"/>
          </a:p>
          <a:p>
            <a:pPr marL="406400" lvl="0" indent="-406400" algn="l" rtl="0">
              <a:spcBef>
                <a:spcPts val="0"/>
              </a:spcBef>
              <a:spcAft>
                <a:spcPts val="0"/>
              </a:spcAft>
              <a:buClr>
                <a:srgbClr val="000000"/>
              </a:buClr>
              <a:buSzPts val="1100"/>
              <a:buFont typeface="Arial"/>
              <a:buNone/>
            </a:pPr>
            <a:endParaRPr sz="900"/>
          </a:p>
          <a:p>
            <a:pPr marL="406400" lvl="0" indent="-406400" algn="l" rtl="0">
              <a:spcBef>
                <a:spcPts val="0"/>
              </a:spcBef>
              <a:spcAft>
                <a:spcPts val="0"/>
              </a:spcAft>
              <a:buClr>
                <a:srgbClr val="000000"/>
              </a:buClr>
              <a:buSzPts val="1100"/>
              <a:buFont typeface="Arial"/>
              <a:buNone/>
            </a:pPr>
            <a:r>
              <a:rPr lang="en" sz="900"/>
              <a:t>K.-H. Lee </a:t>
            </a:r>
            <a:r>
              <a:rPr lang="en" sz="900" i="1"/>
              <a:t>et al.</a:t>
            </a:r>
            <a:r>
              <a:rPr lang="en" sz="900"/>
              <a:t>, “Nonparametric Online Learning Control for Soft Continuum Robot: An Enabling Technique for Effective Endoscopic Navigation,” </a:t>
            </a:r>
            <a:r>
              <a:rPr lang="en" sz="900" i="1"/>
              <a:t>Soft Robot.</a:t>
            </a:r>
            <a:r>
              <a:rPr lang="en" sz="900"/>
              <a:t>, vol. 4, no. 4, p. soro.2016.0065, 2017.</a:t>
            </a:r>
            <a:endParaRPr sz="900"/>
          </a:p>
          <a:p>
            <a:pPr marL="406400" lvl="0" indent="-406400" algn="l" rtl="0">
              <a:spcBef>
                <a:spcPts val="0"/>
              </a:spcBef>
              <a:spcAft>
                <a:spcPts val="0"/>
              </a:spcAft>
              <a:buClr>
                <a:srgbClr val="000000"/>
              </a:buClr>
              <a:buSzPts val="1100"/>
              <a:buFont typeface="Arial"/>
              <a:buNone/>
            </a:pPr>
            <a:endParaRPr sz="900"/>
          </a:p>
          <a:p>
            <a:pPr marL="406400" lvl="0" indent="-406400" algn="l" rtl="0">
              <a:spcBef>
                <a:spcPts val="0"/>
              </a:spcBef>
              <a:spcAft>
                <a:spcPts val="0"/>
              </a:spcAft>
              <a:buClr>
                <a:srgbClr val="000000"/>
              </a:buClr>
              <a:buSzPts val="1100"/>
              <a:buFont typeface="Arial"/>
              <a:buNone/>
            </a:pPr>
            <a:r>
              <a:rPr lang="en" sz="900"/>
              <a:t>Liu et al. Iterative Jacobian-Based Inverse Kinematics and Open-Loop Control of an MRI-Guided Magnetically Actuated Steerable Catheter System</a:t>
            </a:r>
            <a:endParaRPr sz="900"/>
          </a:p>
          <a:p>
            <a:pPr marL="406400" lvl="0" indent="-406400" algn="l" rtl="0">
              <a:spcBef>
                <a:spcPts val="0"/>
              </a:spcBef>
              <a:spcAft>
                <a:spcPts val="0"/>
              </a:spcAft>
              <a:buClr>
                <a:srgbClr val="000000"/>
              </a:buClr>
              <a:buSzPts val="1100"/>
              <a:buFont typeface="Arial"/>
              <a:buNone/>
            </a:pPr>
            <a:r>
              <a:rPr lang="en" sz="900"/>
              <a:t> IEEE/ASME TRANSACTIONS ON MECHATRONICS, VOL. 22, NO. 4, AUGUST 2017</a:t>
            </a:r>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4868b6381b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4868b6381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Open cv is implemented in python which passes information to the arduino via serial communication, controlling our servos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4868b6381b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4868b6381b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a3856542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4a3856542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4868b6381b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4868b6381b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4868b6381b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868b6381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4a38565429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4a3856542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4868b6381b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4868b6381b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4868b6381b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4868b6381b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4868b6381b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4868b6381b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11" name="Google Shape;11;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2" name="Google Shape;12;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3" name="Google Shape;13;p2"/>
          <p:cNvCxnSpPr/>
          <p:nvPr/>
        </p:nvCxnSpPr>
        <p:spPr>
          <a:xfrm rot="10800000" flipH="1">
            <a:off x="0" y="2720900"/>
            <a:ext cx="7550400" cy="30900"/>
          </a:xfrm>
          <a:prstGeom prst="straightConnector1">
            <a:avLst/>
          </a:prstGeom>
          <a:noFill/>
          <a:ln w="114300" cap="flat" cmpd="sng">
            <a:solidFill>
              <a:srgbClr val="CC0000"/>
            </a:solidFill>
            <a:prstDash val="solid"/>
            <a:round/>
            <a:headEnd type="none" w="med" len="med"/>
            <a:tailEnd type="none" w="med" len="med"/>
          </a:ln>
        </p:spPr>
      </p:cxnSp>
      <p:cxnSp>
        <p:nvCxnSpPr>
          <p:cNvPr id="14" name="Google Shape;14;p2"/>
          <p:cNvCxnSpPr/>
          <p:nvPr/>
        </p:nvCxnSpPr>
        <p:spPr>
          <a:xfrm>
            <a:off x="7550400" y="2830350"/>
            <a:ext cx="742800" cy="0"/>
          </a:xfrm>
          <a:prstGeom prst="straightConnector1">
            <a:avLst/>
          </a:prstGeom>
          <a:noFill/>
          <a:ln w="114300" cap="flat" cmpd="sng">
            <a:solidFill>
              <a:schemeClr val="accent5"/>
            </a:solidFill>
            <a:prstDash val="solid"/>
            <a:round/>
            <a:headEnd type="none" w="med" len="med"/>
            <a:tailEnd type="none" w="med" len="med"/>
          </a:ln>
        </p:spPr>
      </p:cxnSp>
      <p:sp>
        <p:nvSpPr>
          <p:cNvPr id="15" name="Google Shape;15;p2"/>
          <p:cNvSpPr/>
          <p:nvPr/>
        </p:nvSpPr>
        <p:spPr>
          <a:xfrm>
            <a:off x="61900" y="2568375"/>
            <a:ext cx="294000" cy="393600"/>
          </a:xfrm>
          <a:prstGeom prst="diagStrip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1675" y="2568375"/>
            <a:ext cx="294000" cy="393600"/>
          </a:xfrm>
          <a:prstGeom prst="diagStrip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4" name="Google Shape;24;p4"/>
          <p:cNvCxnSpPr/>
          <p:nvPr/>
        </p:nvCxnSpPr>
        <p:spPr>
          <a:xfrm rot="10800000" flipH="1">
            <a:off x="-209625" y="1026825"/>
            <a:ext cx="7550400" cy="30900"/>
          </a:xfrm>
          <a:prstGeom prst="straightConnector1">
            <a:avLst/>
          </a:prstGeom>
          <a:noFill/>
          <a:ln w="76200" cap="flat" cmpd="sng">
            <a:solidFill>
              <a:srgbClr val="CC0000"/>
            </a:solidFill>
            <a:prstDash val="solid"/>
            <a:round/>
            <a:headEnd type="none" w="med" len="med"/>
            <a:tailEnd type="none" w="med" len="med"/>
          </a:ln>
        </p:spPr>
      </p:cxnSp>
      <p:cxnSp>
        <p:nvCxnSpPr>
          <p:cNvPr id="25" name="Google Shape;25;p4"/>
          <p:cNvCxnSpPr/>
          <p:nvPr/>
        </p:nvCxnSpPr>
        <p:spPr>
          <a:xfrm>
            <a:off x="7340775" y="1079100"/>
            <a:ext cx="936300" cy="12000"/>
          </a:xfrm>
          <a:prstGeom prst="straightConnector1">
            <a:avLst/>
          </a:prstGeom>
          <a:noFill/>
          <a:ln w="76200" cap="flat" cmpd="sng">
            <a:solidFill>
              <a:schemeClr val="accent5"/>
            </a:solidFill>
            <a:prstDash val="solid"/>
            <a:round/>
            <a:headEnd type="none" w="med" len="med"/>
            <a:tailEnd type="none" w="med" len="med"/>
          </a:ln>
        </p:spPr>
      </p:cxnSp>
      <p:sp>
        <p:nvSpPr>
          <p:cNvPr id="26" name="Google Shape;26;p4"/>
          <p:cNvSpPr/>
          <p:nvPr/>
        </p:nvSpPr>
        <p:spPr>
          <a:xfrm>
            <a:off x="0" y="912850"/>
            <a:ext cx="294000" cy="393600"/>
          </a:xfrm>
          <a:prstGeom prst="diagStrip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198825" y="912850"/>
            <a:ext cx="294000" cy="393600"/>
          </a:xfrm>
          <a:prstGeom prst="diagStrip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1" name="Google Shape;3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2" name="Google Shape;32;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8" name="Google Shape;3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9" name="Google Shape;39;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42" name="Google Shape;42;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45;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100"/>
              <a:buNone/>
              <a:defRPr sz="21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8" name="Google Shape;48;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49" name="Google Shape;49;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52" name="Google Shape;52;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5" name="Google Shape;55;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1pPr>
            <a:lvl2pPr lvl="1"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2pPr>
            <a:lvl3pPr lvl="2"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3pPr>
            <a:lvl4pPr lvl="3"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4pPr>
            <a:lvl5pPr lvl="4"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5pPr>
            <a:lvl6pPr lvl="5"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6pPr>
            <a:lvl7pPr lvl="6"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7pPr>
            <a:lvl8pPr lvl="7"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8pPr>
            <a:lvl9pPr lvl="8" rtl="0">
              <a:spcBef>
                <a:spcPts val="0"/>
              </a:spcBef>
              <a:spcAft>
                <a:spcPts val="0"/>
              </a:spcAft>
              <a:buClr>
                <a:srgbClr val="660000"/>
              </a:buClr>
              <a:buSzPts val="3000"/>
              <a:buFont typeface="Oswald"/>
              <a:buNone/>
              <a:defRPr sz="3000">
                <a:solidFill>
                  <a:srgbClr val="660000"/>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434343"/>
              </a:buClr>
              <a:buSzPts val="1800"/>
              <a:buFont typeface="Average"/>
              <a:buChar char="●"/>
              <a:defRPr sz="1800">
                <a:solidFill>
                  <a:srgbClr val="434343"/>
                </a:solidFill>
                <a:latin typeface="Average"/>
                <a:ea typeface="Average"/>
                <a:cs typeface="Average"/>
                <a:sym typeface="Average"/>
              </a:defRPr>
            </a:lvl1pPr>
            <a:lvl2pPr marL="914400" lvl="1"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2pPr>
            <a:lvl3pPr marL="1371600" lvl="2"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3pPr>
            <a:lvl4pPr marL="1828800" lvl="3"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4pPr>
            <a:lvl5pPr marL="2286000" lvl="4"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5pPr>
            <a:lvl6pPr marL="2743200" lvl="5"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6pPr>
            <a:lvl7pPr marL="3200400" lvl="6"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7pPr>
            <a:lvl8pPr marL="3657600" lvl="7" indent="-317500" rtl="0">
              <a:lnSpc>
                <a:spcPct val="115000"/>
              </a:lnSpc>
              <a:spcBef>
                <a:spcPts val="1600"/>
              </a:spcBef>
              <a:spcAft>
                <a:spcPts val="0"/>
              </a:spcAft>
              <a:buClr>
                <a:srgbClr val="434343"/>
              </a:buClr>
              <a:buSzPts val="1400"/>
              <a:buFont typeface="Average"/>
              <a:buChar char="○"/>
              <a:defRPr>
                <a:solidFill>
                  <a:srgbClr val="434343"/>
                </a:solidFill>
                <a:latin typeface="Average"/>
                <a:ea typeface="Average"/>
                <a:cs typeface="Average"/>
                <a:sym typeface="Average"/>
              </a:defRPr>
            </a:lvl8pPr>
            <a:lvl9pPr marL="4114800" lvl="8" indent="-317500" rtl="0">
              <a:lnSpc>
                <a:spcPct val="115000"/>
              </a:lnSpc>
              <a:spcBef>
                <a:spcPts val="1600"/>
              </a:spcBef>
              <a:spcAft>
                <a:spcPts val="1600"/>
              </a:spcAft>
              <a:buClr>
                <a:srgbClr val="434343"/>
              </a:buClr>
              <a:buSzPts val="1400"/>
              <a:buFont typeface="Average"/>
              <a:buChar char="■"/>
              <a:defRPr>
                <a:solidFill>
                  <a:srgbClr val="43434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accent3"/>
                </a:solidFill>
                <a:latin typeface="Average"/>
                <a:ea typeface="Average"/>
                <a:cs typeface="Average"/>
                <a:sym typeface="Average"/>
              </a:defRPr>
            </a:lvl1pPr>
            <a:lvl2pPr lvl="1" algn="r" rtl="0">
              <a:buNone/>
              <a:defRPr sz="1000">
                <a:solidFill>
                  <a:schemeClr val="accent3"/>
                </a:solidFill>
                <a:latin typeface="Average"/>
                <a:ea typeface="Average"/>
                <a:cs typeface="Average"/>
                <a:sym typeface="Average"/>
              </a:defRPr>
            </a:lvl2pPr>
            <a:lvl3pPr lvl="2" algn="r" rtl="0">
              <a:buNone/>
              <a:defRPr sz="1000">
                <a:solidFill>
                  <a:schemeClr val="accent3"/>
                </a:solidFill>
                <a:latin typeface="Average"/>
                <a:ea typeface="Average"/>
                <a:cs typeface="Average"/>
                <a:sym typeface="Average"/>
              </a:defRPr>
            </a:lvl3pPr>
            <a:lvl4pPr lvl="3" algn="r" rtl="0">
              <a:buNone/>
              <a:defRPr sz="1000">
                <a:solidFill>
                  <a:schemeClr val="accent3"/>
                </a:solidFill>
                <a:latin typeface="Average"/>
                <a:ea typeface="Average"/>
                <a:cs typeface="Average"/>
                <a:sym typeface="Average"/>
              </a:defRPr>
            </a:lvl4pPr>
            <a:lvl5pPr lvl="4" algn="r" rtl="0">
              <a:buNone/>
              <a:defRPr sz="1000">
                <a:solidFill>
                  <a:schemeClr val="accent3"/>
                </a:solidFill>
                <a:latin typeface="Average"/>
                <a:ea typeface="Average"/>
                <a:cs typeface="Average"/>
                <a:sym typeface="Average"/>
              </a:defRPr>
            </a:lvl5pPr>
            <a:lvl6pPr lvl="5" algn="r" rtl="0">
              <a:buNone/>
              <a:defRPr sz="1000">
                <a:solidFill>
                  <a:schemeClr val="accent3"/>
                </a:solidFill>
                <a:latin typeface="Average"/>
                <a:ea typeface="Average"/>
                <a:cs typeface="Average"/>
                <a:sym typeface="Average"/>
              </a:defRPr>
            </a:lvl6pPr>
            <a:lvl7pPr lvl="6" algn="r" rtl="0">
              <a:buNone/>
              <a:defRPr sz="1000">
                <a:solidFill>
                  <a:schemeClr val="accent3"/>
                </a:solidFill>
                <a:latin typeface="Average"/>
                <a:ea typeface="Average"/>
                <a:cs typeface="Average"/>
                <a:sym typeface="Average"/>
              </a:defRPr>
            </a:lvl7pPr>
            <a:lvl8pPr lvl="7" algn="r" rtl="0">
              <a:buNone/>
              <a:defRPr sz="1000">
                <a:solidFill>
                  <a:schemeClr val="accent3"/>
                </a:solidFill>
                <a:latin typeface="Average"/>
                <a:ea typeface="Average"/>
                <a:cs typeface="Average"/>
                <a:sym typeface="Average"/>
              </a:defRPr>
            </a:lvl8pPr>
            <a:lvl9pPr lvl="8" algn="r" rtl="0">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hycw8eoB6dI"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drive.google.com/file/d/15HguUL6qXW8B0DZLpPynl3Sq9ycWPW2b/view"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Position tracking of soft robot end-effector using estimated Jacobian</a:t>
            </a:r>
            <a:endParaRPr/>
          </a:p>
        </p:txBody>
      </p:sp>
      <p:sp>
        <p:nvSpPr>
          <p:cNvPr id="64" name="Google Shape;64;p13"/>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Orla Gotthelf, Caleb Fick, Yusra Farhat Ullah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70" name="Google Shape;7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The Background</a:t>
            </a:r>
            <a:endParaRPr/>
          </a:p>
          <a:p>
            <a:pPr marL="457200" lvl="0" indent="-342900" algn="l" rtl="0">
              <a:spcBef>
                <a:spcPts val="0"/>
              </a:spcBef>
              <a:spcAft>
                <a:spcPts val="0"/>
              </a:spcAft>
              <a:buSzPts val="1800"/>
              <a:buAutoNum type="arabicPeriod"/>
            </a:pPr>
            <a:r>
              <a:rPr lang="en"/>
              <a:t>The Gap</a:t>
            </a:r>
            <a:endParaRPr/>
          </a:p>
          <a:p>
            <a:pPr marL="457200" lvl="0" indent="-342900" algn="l" rtl="0">
              <a:spcBef>
                <a:spcPts val="0"/>
              </a:spcBef>
              <a:spcAft>
                <a:spcPts val="0"/>
              </a:spcAft>
              <a:buSzPts val="1800"/>
              <a:buAutoNum type="arabicPeriod"/>
            </a:pPr>
            <a:r>
              <a:rPr lang="en"/>
              <a:t>The Setup</a:t>
            </a:r>
            <a:endParaRPr/>
          </a:p>
          <a:p>
            <a:pPr marL="457200" lvl="0" indent="-342900" algn="l" rtl="0">
              <a:spcBef>
                <a:spcPts val="0"/>
              </a:spcBef>
              <a:spcAft>
                <a:spcPts val="0"/>
              </a:spcAft>
              <a:buSzPts val="1800"/>
              <a:buAutoNum type="arabicPeriod"/>
            </a:pPr>
            <a:r>
              <a:rPr lang="en"/>
              <a:t>The Math</a:t>
            </a:r>
            <a:endParaRPr/>
          </a:p>
          <a:p>
            <a:pPr marL="457200" lvl="0" indent="-342900" algn="l" rtl="0">
              <a:spcBef>
                <a:spcPts val="0"/>
              </a:spcBef>
              <a:spcAft>
                <a:spcPts val="0"/>
              </a:spcAft>
              <a:buSzPts val="1800"/>
              <a:buAutoNum type="arabicPeriod"/>
            </a:pPr>
            <a:r>
              <a:rPr lang="en"/>
              <a:t>The Code</a:t>
            </a:r>
            <a:endParaRPr/>
          </a:p>
          <a:p>
            <a:pPr marL="457200" lvl="0" indent="-342900" algn="l" rtl="0">
              <a:spcBef>
                <a:spcPts val="0"/>
              </a:spcBef>
              <a:spcAft>
                <a:spcPts val="0"/>
              </a:spcAft>
              <a:buSzPts val="1800"/>
              <a:buAutoNum type="arabicPeriod"/>
            </a:pPr>
            <a:r>
              <a:rPr lang="en"/>
              <a:t>The Demo</a:t>
            </a:r>
            <a:endParaRPr/>
          </a:p>
          <a:p>
            <a:pPr marL="457200" lvl="0" indent="-342900" algn="l" rtl="0">
              <a:spcBef>
                <a:spcPts val="0"/>
              </a:spcBef>
              <a:spcAft>
                <a:spcPts val="0"/>
              </a:spcAft>
              <a:buSzPts val="1800"/>
              <a:buAutoNum type="arabicPeriod"/>
            </a:pPr>
            <a:r>
              <a:rPr lang="en"/>
              <a:t>The Conclusion</a:t>
            </a:r>
            <a:endParaRPr/>
          </a:p>
          <a:p>
            <a:pPr marL="457200" lvl="0" indent="-342900" algn="l" rtl="0">
              <a:spcBef>
                <a:spcPts val="0"/>
              </a:spcBef>
              <a:spcAft>
                <a:spcPts val="0"/>
              </a:spcAft>
              <a:buSzPts val="1800"/>
              <a:buAutoNum type="arabicPeriod"/>
            </a:pPr>
            <a:r>
              <a:rPr lang="en"/>
              <a:t>Questions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a:t>
            </a:r>
            <a:endParaRPr/>
          </a:p>
        </p:txBody>
      </p:sp>
      <p:sp>
        <p:nvSpPr>
          <p:cNvPr id="76" name="Google Shape;76;p15"/>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Human endovascular system:</a:t>
            </a:r>
            <a:endParaRPr/>
          </a:p>
          <a:p>
            <a:pPr marL="914400" lvl="1" indent="-317500" algn="l" rtl="0">
              <a:spcBef>
                <a:spcPts val="1000"/>
              </a:spcBef>
              <a:spcAft>
                <a:spcPts val="0"/>
              </a:spcAft>
              <a:buSzPts val="1400"/>
              <a:buChar char="○"/>
            </a:pPr>
            <a:r>
              <a:rPr lang="en"/>
              <a:t>Unstructured environment, branching points, tortuous anatomy</a:t>
            </a:r>
            <a:endParaRPr/>
          </a:p>
          <a:p>
            <a:pPr marL="457200" lvl="0" indent="-342900" algn="l" rtl="0">
              <a:spcBef>
                <a:spcPts val="1000"/>
              </a:spcBef>
              <a:spcAft>
                <a:spcPts val="0"/>
              </a:spcAft>
              <a:buSzPts val="1800"/>
              <a:buChar char="●"/>
            </a:pPr>
            <a:r>
              <a:rPr lang="en"/>
              <a:t>Presently available</a:t>
            </a:r>
            <a:endParaRPr/>
          </a:p>
          <a:p>
            <a:pPr marL="914400" lvl="1" indent="-317500" algn="l" rtl="0">
              <a:spcBef>
                <a:spcPts val="1000"/>
              </a:spcBef>
              <a:spcAft>
                <a:spcPts val="0"/>
              </a:spcAft>
              <a:buSzPts val="1400"/>
              <a:buChar char="○"/>
            </a:pPr>
            <a:r>
              <a:rPr lang="en"/>
              <a:t>Rigid and semi-rigid hyper-redundant manipulators that can track arbitrary paths</a:t>
            </a:r>
            <a:endParaRPr/>
          </a:p>
          <a:p>
            <a:pPr marL="457200" lvl="0" indent="-342900" algn="l" rtl="0">
              <a:spcBef>
                <a:spcPts val="1000"/>
              </a:spcBef>
              <a:spcAft>
                <a:spcPts val="0"/>
              </a:spcAft>
              <a:buSzPts val="1800"/>
              <a:buChar char="●"/>
            </a:pPr>
            <a:r>
              <a:rPr lang="en"/>
              <a:t>“Truly soft robots”:</a:t>
            </a:r>
            <a:endParaRPr/>
          </a:p>
          <a:p>
            <a:pPr marL="914400" lvl="1" indent="-317500" algn="l" rtl="0">
              <a:spcBef>
                <a:spcPts val="1000"/>
              </a:spcBef>
              <a:spcAft>
                <a:spcPts val="1000"/>
              </a:spcAft>
              <a:buSzPts val="1400"/>
              <a:buChar char="○"/>
            </a:pPr>
            <a:r>
              <a:rPr lang="en"/>
              <a:t>Challenging modeling due to infinite DOF’s and  non-linearity</a:t>
            </a:r>
            <a:endParaRPr/>
          </a:p>
        </p:txBody>
      </p:sp>
      <p:pic>
        <p:nvPicPr>
          <p:cNvPr id="77" name="Google Shape;77;p15"/>
          <p:cNvPicPr preferRelativeResize="0"/>
          <p:nvPr/>
        </p:nvPicPr>
        <p:blipFill>
          <a:blip r:embed="rId3">
            <a:alphaModFix/>
          </a:blip>
          <a:stretch>
            <a:fillRect/>
          </a:stretch>
        </p:blipFill>
        <p:spPr>
          <a:xfrm>
            <a:off x="5247425" y="1131888"/>
            <a:ext cx="2933700" cy="3457575"/>
          </a:xfrm>
          <a:prstGeom prst="rect">
            <a:avLst/>
          </a:prstGeom>
          <a:noFill/>
          <a:ln>
            <a:noFill/>
          </a:ln>
        </p:spPr>
      </p:pic>
      <p:sp>
        <p:nvSpPr>
          <p:cNvPr id="78" name="Google Shape;78;p15"/>
          <p:cNvSpPr txBox="1"/>
          <p:nvPr/>
        </p:nvSpPr>
        <p:spPr>
          <a:xfrm>
            <a:off x="0" y="4703625"/>
            <a:ext cx="3192000" cy="41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[3] Lawton et al. (2000) IJSS </a:t>
            </a:r>
            <a:endParaRPr/>
          </a:p>
        </p:txBody>
      </p:sp>
      <p:sp>
        <p:nvSpPr>
          <p:cNvPr id="79" name="Google Shape;79;p15"/>
          <p:cNvSpPr txBox="1"/>
          <p:nvPr/>
        </p:nvSpPr>
        <p:spPr>
          <a:xfrm>
            <a:off x="5268950" y="4585950"/>
            <a:ext cx="3707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Catheter being pushed and twisted to enter desired arterial branch under fluoroscopy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a:t>
            </a:r>
            <a:endParaRPr/>
          </a:p>
        </p:txBody>
      </p:sp>
      <p:pic>
        <p:nvPicPr>
          <p:cNvPr id="85" name="Google Shape;85;p16"/>
          <p:cNvPicPr preferRelativeResize="0"/>
          <p:nvPr/>
        </p:nvPicPr>
        <p:blipFill>
          <a:blip r:embed="rId3">
            <a:alphaModFix/>
          </a:blip>
          <a:stretch>
            <a:fillRect/>
          </a:stretch>
        </p:blipFill>
        <p:spPr>
          <a:xfrm>
            <a:off x="4690800" y="1269475"/>
            <a:ext cx="2056625" cy="2312850"/>
          </a:xfrm>
          <a:prstGeom prst="rect">
            <a:avLst/>
          </a:prstGeom>
          <a:noFill/>
          <a:ln>
            <a:noFill/>
          </a:ln>
        </p:spPr>
      </p:pic>
      <p:sp>
        <p:nvSpPr>
          <p:cNvPr id="86" name="Google Shape;86;p16"/>
          <p:cNvSpPr txBox="1"/>
          <p:nvPr/>
        </p:nvSpPr>
        <p:spPr>
          <a:xfrm>
            <a:off x="4990175" y="3582325"/>
            <a:ext cx="20073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Tortuous iliac artery [1]</a:t>
            </a:r>
            <a:endParaRPr/>
          </a:p>
        </p:txBody>
      </p:sp>
      <p:sp>
        <p:nvSpPr>
          <p:cNvPr id="87" name="Google Shape;87;p16"/>
          <p:cNvSpPr txBox="1"/>
          <p:nvPr/>
        </p:nvSpPr>
        <p:spPr>
          <a:xfrm>
            <a:off x="125450" y="4683875"/>
            <a:ext cx="49902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[1] Endovascular and Hybrid Therapies, Kpodonu &amp; Bonan</a:t>
            </a:r>
            <a:endParaRPr sz="1000"/>
          </a:p>
          <a:p>
            <a:pPr marL="0" lvl="0" indent="0" algn="l" rtl="0">
              <a:spcBef>
                <a:spcPts val="0"/>
              </a:spcBef>
              <a:spcAft>
                <a:spcPts val="0"/>
              </a:spcAft>
              <a:buNone/>
            </a:pPr>
            <a:r>
              <a:rPr lang="en" sz="1000"/>
              <a:t>[2] Muller et al. (2008) Circulation</a:t>
            </a:r>
            <a:endParaRPr sz="1000"/>
          </a:p>
        </p:txBody>
      </p:sp>
      <p:pic>
        <p:nvPicPr>
          <p:cNvPr id="88" name="Google Shape;88;p16"/>
          <p:cNvPicPr preferRelativeResize="0"/>
          <p:nvPr/>
        </p:nvPicPr>
        <p:blipFill>
          <a:blip r:embed="rId4">
            <a:alphaModFix/>
          </a:blip>
          <a:stretch>
            <a:fillRect/>
          </a:stretch>
        </p:blipFill>
        <p:spPr>
          <a:xfrm>
            <a:off x="6996475" y="1170125"/>
            <a:ext cx="1933385" cy="2259800"/>
          </a:xfrm>
          <a:prstGeom prst="rect">
            <a:avLst/>
          </a:prstGeom>
          <a:noFill/>
          <a:ln>
            <a:noFill/>
          </a:ln>
        </p:spPr>
      </p:pic>
      <p:sp>
        <p:nvSpPr>
          <p:cNvPr id="89" name="Google Shape;89;p16"/>
          <p:cNvSpPr txBox="1"/>
          <p:nvPr/>
        </p:nvSpPr>
        <p:spPr>
          <a:xfrm>
            <a:off x="7108900" y="3665975"/>
            <a:ext cx="1933500" cy="110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Accordion phenomenon, guidewire stretching vessel wall [2]</a:t>
            </a:r>
            <a:endParaRPr/>
          </a:p>
        </p:txBody>
      </p:sp>
      <p:sp>
        <p:nvSpPr>
          <p:cNvPr id="90" name="Google Shape;90;p16"/>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Human endovascular system:</a:t>
            </a:r>
            <a:endParaRPr/>
          </a:p>
          <a:p>
            <a:pPr marL="914400" lvl="1" indent="-317500" algn="l" rtl="0">
              <a:spcBef>
                <a:spcPts val="1000"/>
              </a:spcBef>
              <a:spcAft>
                <a:spcPts val="0"/>
              </a:spcAft>
              <a:buSzPts val="1400"/>
              <a:buChar char="○"/>
            </a:pPr>
            <a:r>
              <a:rPr lang="en"/>
              <a:t>Unstructured environment, branching points, tortuous anatomy</a:t>
            </a:r>
            <a:endParaRPr/>
          </a:p>
          <a:p>
            <a:pPr marL="457200" lvl="0" indent="-342900" algn="l" rtl="0">
              <a:spcBef>
                <a:spcPts val="1000"/>
              </a:spcBef>
              <a:spcAft>
                <a:spcPts val="0"/>
              </a:spcAft>
              <a:buSzPts val="1800"/>
              <a:buChar char="●"/>
            </a:pPr>
            <a:r>
              <a:rPr lang="en"/>
              <a:t>Presently available</a:t>
            </a:r>
            <a:endParaRPr/>
          </a:p>
          <a:p>
            <a:pPr marL="914400" lvl="1" indent="-317500" algn="l" rtl="0">
              <a:spcBef>
                <a:spcPts val="1000"/>
              </a:spcBef>
              <a:spcAft>
                <a:spcPts val="0"/>
              </a:spcAft>
              <a:buSzPts val="1400"/>
              <a:buChar char="○"/>
            </a:pPr>
            <a:r>
              <a:rPr lang="en"/>
              <a:t>Rigid and semi-rigid hyper-redundant manipulators that can track arbitrary paths</a:t>
            </a:r>
            <a:endParaRPr/>
          </a:p>
          <a:p>
            <a:pPr marL="457200" lvl="0" indent="-342900" algn="l" rtl="0">
              <a:spcBef>
                <a:spcPts val="1000"/>
              </a:spcBef>
              <a:spcAft>
                <a:spcPts val="0"/>
              </a:spcAft>
              <a:buSzPts val="1800"/>
              <a:buChar char="●"/>
            </a:pPr>
            <a:r>
              <a:rPr lang="en"/>
              <a:t>“Truly soft robots”:</a:t>
            </a:r>
            <a:endParaRPr/>
          </a:p>
          <a:p>
            <a:pPr marL="914400" lvl="1" indent="-317500" algn="l" rtl="0">
              <a:spcBef>
                <a:spcPts val="1000"/>
              </a:spcBef>
              <a:spcAft>
                <a:spcPts val="1000"/>
              </a:spcAft>
              <a:buSzPts val="1400"/>
              <a:buChar char="○"/>
            </a:pPr>
            <a:r>
              <a:rPr lang="en"/>
              <a:t>Challenging modeling due to infinite DOF’s and  non-linearity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a:t>
            </a:r>
            <a:endParaRPr/>
          </a:p>
        </p:txBody>
      </p:sp>
      <p:pic>
        <p:nvPicPr>
          <p:cNvPr id="96" name="Google Shape;96;p17" descr="Video demonstrating the robotic steering capabilities of the Magellan Robotic Catheter 6Fr from Hansen Medical (www.hansenmedical.com). The catheter has two separate bending points, and the Magellan Robotic System can be used to  robotically bend the catheter up to 140 degrees at the distal end, and simultaneously bend the proximal section up to 60 degrees.  In addition, 360 degree rotation at the distal end is also possible.  This 3D catheter control enables this robotic catheter to mimic the shapes of a wide variety of pre-shaped, traditional endovascular catheters, offering the potential for greater precision in navigating through blood vessels, and reduced catheter exchanges during the procedure." title="Magellan Robotic Catheter 6Fr">
            <a:hlinkClick r:id="rId3"/>
          </p:cNvPr>
          <p:cNvPicPr preferRelativeResize="0"/>
          <p:nvPr/>
        </p:nvPicPr>
        <p:blipFill>
          <a:blip r:embed="rId4">
            <a:alphaModFix/>
          </a:blip>
          <a:stretch>
            <a:fillRect/>
          </a:stretch>
        </p:blipFill>
        <p:spPr>
          <a:xfrm>
            <a:off x="4843200" y="1170125"/>
            <a:ext cx="4148400" cy="3111300"/>
          </a:xfrm>
          <a:prstGeom prst="rect">
            <a:avLst/>
          </a:prstGeom>
          <a:noFill/>
          <a:ln>
            <a:noFill/>
          </a:ln>
        </p:spPr>
      </p:pic>
      <p:sp>
        <p:nvSpPr>
          <p:cNvPr id="97" name="Google Shape;97;p17"/>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Human endovascular system:</a:t>
            </a:r>
            <a:endParaRPr/>
          </a:p>
          <a:p>
            <a:pPr marL="914400" lvl="1" indent="-317500" algn="l" rtl="0">
              <a:spcBef>
                <a:spcPts val="1000"/>
              </a:spcBef>
              <a:spcAft>
                <a:spcPts val="0"/>
              </a:spcAft>
              <a:buSzPts val="1400"/>
              <a:buChar char="○"/>
            </a:pPr>
            <a:r>
              <a:rPr lang="en"/>
              <a:t>Unstructured environment, branching points, tortuous anatomy</a:t>
            </a:r>
            <a:endParaRPr/>
          </a:p>
          <a:p>
            <a:pPr marL="457200" lvl="0" indent="-342900" algn="l" rtl="0">
              <a:spcBef>
                <a:spcPts val="1000"/>
              </a:spcBef>
              <a:spcAft>
                <a:spcPts val="0"/>
              </a:spcAft>
              <a:buSzPts val="1800"/>
              <a:buChar char="●"/>
            </a:pPr>
            <a:r>
              <a:rPr lang="en"/>
              <a:t>Presently available</a:t>
            </a:r>
            <a:endParaRPr/>
          </a:p>
          <a:p>
            <a:pPr marL="914400" lvl="1" indent="-317500" algn="l" rtl="0">
              <a:spcBef>
                <a:spcPts val="1000"/>
              </a:spcBef>
              <a:spcAft>
                <a:spcPts val="0"/>
              </a:spcAft>
              <a:buSzPts val="1400"/>
              <a:buChar char="○"/>
            </a:pPr>
            <a:r>
              <a:rPr lang="en"/>
              <a:t>Rigid and semi-rigid hyper-redundant manipulators that can track arbitrary paths</a:t>
            </a:r>
            <a:endParaRPr/>
          </a:p>
          <a:p>
            <a:pPr marL="457200" lvl="0" indent="-342900" algn="l" rtl="0">
              <a:spcBef>
                <a:spcPts val="1000"/>
              </a:spcBef>
              <a:spcAft>
                <a:spcPts val="0"/>
              </a:spcAft>
              <a:buSzPts val="1800"/>
              <a:buChar char="●"/>
            </a:pPr>
            <a:r>
              <a:rPr lang="en"/>
              <a:t>“Truly soft robots”:</a:t>
            </a:r>
            <a:endParaRPr/>
          </a:p>
          <a:p>
            <a:pPr marL="914400" lvl="1" indent="-317500" algn="l" rtl="0">
              <a:spcBef>
                <a:spcPts val="1000"/>
              </a:spcBef>
              <a:spcAft>
                <a:spcPts val="1000"/>
              </a:spcAft>
              <a:buSzPts val="1400"/>
              <a:buChar char="○"/>
            </a:pPr>
            <a:r>
              <a:rPr lang="en"/>
              <a:t>Challenging modeling due to infinite DOF’s and  non-linearity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gap and how we address it</a:t>
            </a:r>
            <a:endParaRPr/>
          </a:p>
        </p:txBody>
      </p:sp>
      <p:sp>
        <p:nvSpPr>
          <p:cNvPr id="103" name="Google Shape;10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Gap:</a:t>
            </a:r>
            <a:endParaRPr/>
          </a:p>
          <a:p>
            <a:pPr marL="457200" lvl="0" indent="-342900" algn="l" rtl="0">
              <a:spcBef>
                <a:spcPts val="1600"/>
              </a:spcBef>
              <a:spcAft>
                <a:spcPts val="0"/>
              </a:spcAft>
              <a:buSzPts val="1800"/>
              <a:buChar char="●"/>
            </a:pPr>
            <a:r>
              <a:rPr lang="en"/>
              <a:t>Model-less [4] or kinematic-free control [5] shown to be more accurate [6]</a:t>
            </a:r>
            <a:endParaRPr/>
          </a:p>
          <a:p>
            <a:pPr marL="457200" lvl="0" indent="-342900" algn="l" rtl="0">
              <a:spcBef>
                <a:spcPts val="0"/>
              </a:spcBef>
              <a:spcAft>
                <a:spcPts val="0"/>
              </a:spcAft>
              <a:buSzPts val="1800"/>
              <a:buChar char="●"/>
            </a:pPr>
            <a:r>
              <a:rPr lang="en"/>
              <a:t>FNN based learned model for 2-cable driven soft robots[7]</a:t>
            </a:r>
            <a:endParaRPr/>
          </a:p>
          <a:p>
            <a:pPr marL="457200" lvl="0" indent="-342900" algn="l" rtl="0">
              <a:spcBef>
                <a:spcPts val="0"/>
              </a:spcBef>
              <a:spcAft>
                <a:spcPts val="0"/>
              </a:spcAft>
              <a:buSzPts val="1800"/>
              <a:buChar char="●"/>
            </a:pPr>
            <a:r>
              <a:rPr lang="en"/>
              <a:t>FEM-initiated learning of Jacobian in hydraulic[8] </a:t>
            </a:r>
            <a:endParaRPr/>
          </a:p>
          <a:p>
            <a:pPr marL="457200" lvl="0" indent="-342900" algn="l" rtl="0">
              <a:spcBef>
                <a:spcPts val="0"/>
              </a:spcBef>
              <a:spcAft>
                <a:spcPts val="0"/>
              </a:spcAft>
              <a:buSzPts val="1800"/>
              <a:buChar char="●"/>
            </a:pPr>
            <a:r>
              <a:rPr lang="en"/>
              <a:t>No experiments for 3-cable driven soft arm</a:t>
            </a:r>
            <a:endParaRPr/>
          </a:p>
          <a:p>
            <a:pPr marL="0" lvl="0" indent="0" algn="l" rtl="0">
              <a:spcBef>
                <a:spcPts val="1600"/>
              </a:spcBef>
              <a:spcAft>
                <a:spcPts val="0"/>
              </a:spcAft>
              <a:buNone/>
            </a:pPr>
            <a:r>
              <a:rPr lang="en"/>
              <a:t>Research objective:</a:t>
            </a:r>
            <a:endParaRPr/>
          </a:p>
          <a:p>
            <a:pPr marL="457200" lvl="0" indent="-342900" algn="l" rtl="0">
              <a:spcBef>
                <a:spcPts val="1600"/>
              </a:spcBef>
              <a:spcAft>
                <a:spcPts val="0"/>
              </a:spcAft>
              <a:buSzPts val="1800"/>
              <a:buChar char="●"/>
            </a:pPr>
            <a:r>
              <a:rPr lang="en"/>
              <a:t>Numerical Jacobian estimation using workspace exploration for visual servoing of robot tip position</a:t>
            </a:r>
            <a:endParaRPr/>
          </a:p>
          <a:p>
            <a:pPr marL="0" lvl="0" indent="0" algn="l" rtl="0">
              <a:spcBef>
                <a:spcPts val="1600"/>
              </a:spcBef>
              <a:spcAft>
                <a:spcPts val="0"/>
              </a:spcAft>
              <a:buClr>
                <a:srgbClr val="000000"/>
              </a:buClr>
              <a:buSzPts val="1100"/>
              <a:buFont typeface="Arial"/>
              <a:buNone/>
            </a:pPr>
            <a:br>
              <a:rPr lang="en"/>
            </a:br>
            <a:endParaRPr/>
          </a:p>
          <a:p>
            <a:pPr marL="0" lvl="0" indent="0" algn="l" rtl="0">
              <a:spcBef>
                <a:spcPts val="1600"/>
              </a:spcBef>
              <a:spcAft>
                <a:spcPts val="1600"/>
              </a:spcAft>
              <a:buNone/>
            </a:pPr>
            <a:endParaRPr/>
          </a:p>
        </p:txBody>
      </p:sp>
      <p:sp>
        <p:nvSpPr>
          <p:cNvPr id="104" name="Google Shape;104;p18"/>
          <p:cNvSpPr txBox="1"/>
          <p:nvPr/>
        </p:nvSpPr>
        <p:spPr>
          <a:xfrm>
            <a:off x="111500" y="4286250"/>
            <a:ext cx="8720700" cy="85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i="1"/>
              <a:t>[4] Yip &amp; Camarillo (2016) IEEE RAL 			</a:t>
            </a:r>
            <a:endParaRPr sz="1000" i="1"/>
          </a:p>
          <a:p>
            <a:pPr marL="0" lvl="0" indent="0" algn="l" rtl="0">
              <a:spcBef>
                <a:spcPts val="0"/>
              </a:spcBef>
              <a:spcAft>
                <a:spcPts val="0"/>
              </a:spcAft>
              <a:buNone/>
            </a:pPr>
            <a:r>
              <a:rPr lang="en" sz="1000" i="1"/>
              <a:t>[5] Kormushev et al. (2015) IEEE International Conference on Intelligent Robots and Systems</a:t>
            </a:r>
            <a:endParaRPr sz="1000" i="1"/>
          </a:p>
          <a:p>
            <a:pPr marL="0" lvl="0" indent="0" algn="l" rtl="0">
              <a:spcBef>
                <a:spcPts val="0"/>
              </a:spcBef>
              <a:spcAft>
                <a:spcPts val="0"/>
              </a:spcAft>
              <a:buNone/>
            </a:pPr>
            <a:r>
              <a:rPr lang="en" sz="1000" i="1"/>
              <a:t>[6] Wang et al. (2018) </a:t>
            </a:r>
            <a:r>
              <a:rPr lang="en" sz="1000"/>
              <a:t> </a:t>
            </a:r>
            <a:r>
              <a:rPr lang="en" sz="1000" i="1"/>
              <a:t>Int. J. Comput. Assist. Radiol. Surgery 				</a:t>
            </a:r>
            <a:endParaRPr sz="1000" i="1"/>
          </a:p>
          <a:p>
            <a:pPr marL="0" lvl="0" indent="0" algn="l" rtl="0">
              <a:spcBef>
                <a:spcPts val="0"/>
              </a:spcBef>
              <a:spcAft>
                <a:spcPts val="0"/>
              </a:spcAft>
              <a:buNone/>
            </a:pPr>
            <a:r>
              <a:rPr lang="en" sz="1000" i="1"/>
              <a:t>[7] Giorelli et al. (2013) IEEE Int. Conf. Intell. Robot. Syst.</a:t>
            </a:r>
            <a:endParaRPr sz="1000" i="1"/>
          </a:p>
          <a:p>
            <a:pPr marL="0" lvl="0" indent="0" algn="l" rtl="0">
              <a:spcBef>
                <a:spcPts val="0"/>
              </a:spcBef>
              <a:spcAft>
                <a:spcPts val="0"/>
              </a:spcAft>
              <a:buNone/>
            </a:pPr>
            <a:r>
              <a:rPr lang="en" sz="1000" i="1"/>
              <a:t>[8] Lee et al. (2017) Soft Robotics</a:t>
            </a:r>
            <a:endParaRPr sz="1000"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Experimental Setup</a:t>
            </a:r>
            <a:endParaRPr/>
          </a:p>
        </p:txBody>
      </p:sp>
      <p:sp>
        <p:nvSpPr>
          <p:cNvPr id="110" name="Google Shape;11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Robot Arm:</a:t>
            </a:r>
            <a:endParaRPr/>
          </a:p>
          <a:p>
            <a:pPr marL="457200" lvl="0" indent="-342900" algn="l" rtl="0">
              <a:spcBef>
                <a:spcPts val="1600"/>
              </a:spcBef>
              <a:spcAft>
                <a:spcPts val="0"/>
              </a:spcAft>
              <a:buSzPts val="1800"/>
              <a:buChar char="●"/>
            </a:pPr>
            <a:r>
              <a:rPr lang="en"/>
              <a:t>Polyurethane soft body</a:t>
            </a:r>
            <a:endParaRPr/>
          </a:p>
          <a:p>
            <a:pPr marL="457200" lvl="0" indent="-342900" algn="l" rtl="0">
              <a:spcBef>
                <a:spcPts val="0"/>
              </a:spcBef>
              <a:spcAft>
                <a:spcPts val="0"/>
              </a:spcAft>
              <a:buSzPts val="1800"/>
              <a:buChar char="●"/>
            </a:pPr>
            <a:r>
              <a:rPr lang="en"/>
              <a:t>3 cables - External and Embedded</a:t>
            </a:r>
            <a:endParaRPr/>
          </a:p>
          <a:p>
            <a:pPr marL="0" lvl="0" indent="0" algn="l" rtl="0">
              <a:spcBef>
                <a:spcPts val="1600"/>
              </a:spcBef>
              <a:spcAft>
                <a:spcPts val="0"/>
              </a:spcAft>
              <a:buNone/>
            </a:pPr>
            <a:r>
              <a:rPr lang="en"/>
              <a:t>The servos:</a:t>
            </a:r>
            <a:endParaRPr/>
          </a:p>
          <a:p>
            <a:pPr marL="457200" lvl="0" indent="-342900" algn="l" rtl="0">
              <a:spcBef>
                <a:spcPts val="1600"/>
              </a:spcBef>
              <a:spcAft>
                <a:spcPts val="0"/>
              </a:spcAft>
              <a:buSzPts val="1800"/>
              <a:buChar char="●"/>
            </a:pPr>
            <a:r>
              <a:rPr lang="en"/>
              <a:t>Three D485HW 32 Bit servos</a:t>
            </a:r>
            <a:endParaRPr/>
          </a:p>
          <a:p>
            <a:pPr marL="457200" lvl="0" indent="-342900" algn="l" rtl="0">
              <a:spcBef>
                <a:spcPts val="0"/>
              </a:spcBef>
              <a:spcAft>
                <a:spcPts val="0"/>
              </a:spcAft>
              <a:buSzPts val="1800"/>
              <a:buChar char="●"/>
            </a:pPr>
            <a:r>
              <a:rPr lang="en"/>
              <a:t>Individually control cables to move End-Effector</a:t>
            </a:r>
            <a:endParaRPr/>
          </a:p>
          <a:p>
            <a:pPr marL="457200" lvl="0" indent="-342900" algn="l" rtl="0">
              <a:spcBef>
                <a:spcPts val="0"/>
              </a:spcBef>
              <a:spcAft>
                <a:spcPts val="0"/>
              </a:spcAft>
              <a:buSzPts val="1800"/>
              <a:buChar char="●"/>
            </a:pPr>
            <a:r>
              <a:rPr lang="en"/>
              <a:t>Arduino serial communication with python</a:t>
            </a:r>
            <a:endParaRPr/>
          </a:p>
          <a:p>
            <a:pPr marL="0" lvl="0" indent="0" algn="l" rtl="0">
              <a:spcBef>
                <a:spcPts val="1600"/>
              </a:spcBef>
              <a:spcAft>
                <a:spcPts val="0"/>
              </a:spcAft>
              <a:buNone/>
            </a:pPr>
            <a:r>
              <a:rPr lang="en"/>
              <a:t>Webcam:</a:t>
            </a:r>
            <a:endParaRPr/>
          </a:p>
          <a:p>
            <a:pPr marL="457200" lvl="0" indent="-342900" algn="l" rtl="0">
              <a:spcBef>
                <a:spcPts val="1600"/>
              </a:spcBef>
              <a:spcAft>
                <a:spcPts val="0"/>
              </a:spcAft>
              <a:buSzPts val="1800"/>
              <a:buChar char="●"/>
            </a:pPr>
            <a:r>
              <a:rPr lang="en"/>
              <a:t>OpenCV to monitor End-Effector position in 2D pixel space</a:t>
            </a:r>
            <a:endParaRPr/>
          </a:p>
        </p:txBody>
      </p:sp>
      <p:pic>
        <p:nvPicPr>
          <p:cNvPr id="111" name="Google Shape;111;p19"/>
          <p:cNvPicPr preferRelativeResize="0"/>
          <p:nvPr/>
        </p:nvPicPr>
        <p:blipFill rotWithShape="1">
          <a:blip r:embed="rId3">
            <a:alphaModFix/>
          </a:blip>
          <a:srcRect l="8975" t="12900" r="7683" b="22724"/>
          <a:stretch/>
        </p:blipFill>
        <p:spPr>
          <a:xfrm>
            <a:off x="5698950" y="2788175"/>
            <a:ext cx="3051478" cy="1655572"/>
          </a:xfrm>
          <a:prstGeom prst="rect">
            <a:avLst/>
          </a:prstGeom>
          <a:noFill/>
          <a:ln>
            <a:noFill/>
          </a:ln>
        </p:spPr>
      </p:pic>
      <p:pic>
        <p:nvPicPr>
          <p:cNvPr id="112" name="Google Shape;112;p19"/>
          <p:cNvPicPr preferRelativeResize="0"/>
          <p:nvPr/>
        </p:nvPicPr>
        <p:blipFill rotWithShape="1">
          <a:blip r:embed="rId4">
            <a:alphaModFix/>
          </a:blip>
          <a:srcRect l="8782" t="6449" r="6694" b="15850"/>
          <a:stretch/>
        </p:blipFill>
        <p:spPr>
          <a:xfrm>
            <a:off x="5698950" y="660075"/>
            <a:ext cx="3051478" cy="1970317"/>
          </a:xfrm>
          <a:prstGeom prst="rect">
            <a:avLst/>
          </a:prstGeom>
          <a:noFill/>
          <a:ln>
            <a:noFill/>
          </a:ln>
        </p:spPr>
      </p:pic>
      <p:sp>
        <p:nvSpPr>
          <p:cNvPr id="113" name="Google Shape;113;p19"/>
          <p:cNvSpPr txBox="1"/>
          <p:nvPr/>
        </p:nvSpPr>
        <p:spPr>
          <a:xfrm>
            <a:off x="7499200" y="1017725"/>
            <a:ext cx="1170900" cy="3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Embedded</a:t>
            </a:r>
            <a:endParaRPr/>
          </a:p>
        </p:txBody>
      </p:sp>
      <p:sp>
        <p:nvSpPr>
          <p:cNvPr id="114" name="Google Shape;114;p19"/>
          <p:cNvSpPr txBox="1"/>
          <p:nvPr/>
        </p:nvSpPr>
        <p:spPr>
          <a:xfrm>
            <a:off x="7373750" y="1951613"/>
            <a:ext cx="1296300" cy="2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External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Jacobian estimation using least squares</a:t>
            </a:r>
            <a:endParaRPr/>
          </a:p>
        </p:txBody>
      </p:sp>
      <p:pic>
        <p:nvPicPr>
          <p:cNvPr id="120" name="Google Shape;120;p20"/>
          <p:cNvPicPr preferRelativeResize="0"/>
          <p:nvPr/>
        </p:nvPicPr>
        <p:blipFill>
          <a:blip r:embed="rId3">
            <a:alphaModFix/>
          </a:blip>
          <a:stretch>
            <a:fillRect/>
          </a:stretch>
        </p:blipFill>
        <p:spPr>
          <a:xfrm>
            <a:off x="1202738" y="1697000"/>
            <a:ext cx="2317475" cy="1011625"/>
          </a:xfrm>
          <a:prstGeom prst="rect">
            <a:avLst/>
          </a:prstGeom>
          <a:noFill/>
          <a:ln>
            <a:noFill/>
          </a:ln>
        </p:spPr>
      </p:pic>
      <p:pic>
        <p:nvPicPr>
          <p:cNvPr id="121" name="Google Shape;121;p20"/>
          <p:cNvPicPr preferRelativeResize="0"/>
          <p:nvPr/>
        </p:nvPicPr>
        <p:blipFill>
          <a:blip r:embed="rId4">
            <a:alphaModFix/>
          </a:blip>
          <a:stretch>
            <a:fillRect/>
          </a:stretch>
        </p:blipFill>
        <p:spPr>
          <a:xfrm>
            <a:off x="995325" y="2671575"/>
            <a:ext cx="2732319" cy="1011625"/>
          </a:xfrm>
          <a:prstGeom prst="rect">
            <a:avLst/>
          </a:prstGeom>
          <a:noFill/>
          <a:ln>
            <a:noFill/>
          </a:ln>
        </p:spPr>
      </p:pic>
      <p:pic>
        <p:nvPicPr>
          <p:cNvPr id="122" name="Google Shape;122;p20"/>
          <p:cNvPicPr preferRelativeResize="0"/>
          <p:nvPr/>
        </p:nvPicPr>
        <p:blipFill>
          <a:blip r:embed="rId5">
            <a:alphaModFix/>
          </a:blip>
          <a:stretch>
            <a:fillRect/>
          </a:stretch>
        </p:blipFill>
        <p:spPr>
          <a:xfrm>
            <a:off x="476861" y="3640000"/>
            <a:ext cx="3769251" cy="1011625"/>
          </a:xfrm>
          <a:prstGeom prst="rect">
            <a:avLst/>
          </a:prstGeom>
          <a:noFill/>
          <a:ln>
            <a:noFill/>
          </a:ln>
        </p:spPr>
      </p:pic>
      <p:pic>
        <p:nvPicPr>
          <p:cNvPr id="123" name="Google Shape;123;p20"/>
          <p:cNvPicPr preferRelativeResize="0"/>
          <p:nvPr/>
        </p:nvPicPr>
        <p:blipFill>
          <a:blip r:embed="rId6">
            <a:alphaModFix/>
          </a:blip>
          <a:stretch>
            <a:fillRect/>
          </a:stretch>
        </p:blipFill>
        <p:spPr>
          <a:xfrm>
            <a:off x="1702888" y="1318075"/>
            <a:ext cx="1317175" cy="415975"/>
          </a:xfrm>
          <a:prstGeom prst="rect">
            <a:avLst/>
          </a:prstGeom>
          <a:noFill/>
          <a:ln>
            <a:noFill/>
          </a:ln>
        </p:spPr>
      </p:pic>
      <p:sp>
        <p:nvSpPr>
          <p:cNvPr id="124" name="Google Shape;124;p20"/>
          <p:cNvSpPr txBox="1">
            <a:spLocks noGrp="1"/>
          </p:cNvSpPr>
          <p:nvPr>
            <p:ph type="body" idx="1"/>
          </p:nvPr>
        </p:nvSpPr>
        <p:spPr>
          <a:xfrm>
            <a:off x="4572000" y="1279725"/>
            <a:ext cx="39345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Where:</a:t>
            </a:r>
            <a:endParaRPr/>
          </a:p>
          <a:p>
            <a:pPr marL="457200" lvl="0" indent="-342900" algn="l" rtl="0">
              <a:spcBef>
                <a:spcPts val="0"/>
              </a:spcBef>
              <a:spcAft>
                <a:spcPts val="0"/>
              </a:spcAft>
              <a:buSzPts val="1800"/>
              <a:buChar char="●"/>
            </a:pPr>
            <a:r>
              <a:rPr lang="en"/>
              <a:t>p = position vector</a:t>
            </a:r>
            <a:endParaRPr/>
          </a:p>
          <a:p>
            <a:pPr marL="457200" lvl="0" indent="-342900" algn="l" rtl="0">
              <a:spcBef>
                <a:spcPts val="0"/>
              </a:spcBef>
              <a:spcAft>
                <a:spcPts val="0"/>
              </a:spcAft>
              <a:buSzPts val="1800"/>
              <a:buChar char="●"/>
            </a:pPr>
            <a:r>
              <a:rPr lang="en"/>
              <a:t>q = servo position vector</a:t>
            </a:r>
            <a:endParaRPr/>
          </a:p>
          <a:p>
            <a:pPr marL="457200" lvl="0" indent="-342900" algn="l" rtl="0">
              <a:spcBef>
                <a:spcPts val="0"/>
              </a:spcBef>
              <a:spcAft>
                <a:spcPts val="0"/>
              </a:spcAft>
              <a:buSzPts val="1800"/>
              <a:buChar char="●"/>
            </a:pPr>
            <a:r>
              <a:rPr lang="en"/>
              <a:t>Δx, Δy = change in pixel position</a:t>
            </a:r>
            <a:endParaRPr/>
          </a:p>
          <a:p>
            <a:pPr marL="457200" lvl="0" indent="-342900" algn="l" rtl="0">
              <a:spcBef>
                <a:spcPts val="0"/>
              </a:spcBef>
              <a:spcAft>
                <a:spcPts val="0"/>
              </a:spcAft>
              <a:buSzPts val="1800"/>
              <a:buChar char="●"/>
            </a:pPr>
            <a:r>
              <a:rPr lang="en"/>
              <a:t>Δq’s = change in servo-positions (microseconds) </a:t>
            </a:r>
            <a:endParaRPr/>
          </a:p>
          <a:p>
            <a:pPr marL="457200" lvl="0" indent="-342900" algn="l" rtl="0">
              <a:spcBef>
                <a:spcPts val="0"/>
              </a:spcBef>
              <a:spcAft>
                <a:spcPts val="0"/>
              </a:spcAft>
              <a:buSzPts val="1800"/>
              <a:buChar char="●"/>
            </a:pPr>
            <a:r>
              <a:rPr lang="en"/>
              <a:t>J = 2x3 Jacobian</a:t>
            </a:r>
            <a:br>
              <a:rPr lang="en"/>
            </a:br>
            <a:endParaRPr/>
          </a:p>
        </p:txBody>
      </p:sp>
      <p:sp>
        <p:nvSpPr>
          <p:cNvPr id="125" name="Google Shape;125;p20"/>
          <p:cNvSpPr txBox="1"/>
          <p:nvPr/>
        </p:nvSpPr>
        <p:spPr>
          <a:xfrm>
            <a:off x="3839175" y="1279725"/>
            <a:ext cx="1045800" cy="341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Finding the Initial Jacobian</a:t>
            </a:r>
            <a:endParaRPr/>
          </a:p>
        </p:txBody>
      </p:sp>
      <p:pic>
        <p:nvPicPr>
          <p:cNvPr id="131" name="Google Shape;131;p21"/>
          <p:cNvPicPr preferRelativeResize="0"/>
          <p:nvPr/>
        </p:nvPicPr>
        <p:blipFill>
          <a:blip r:embed="rId3">
            <a:alphaModFix/>
          </a:blip>
          <a:stretch>
            <a:fillRect/>
          </a:stretch>
        </p:blipFill>
        <p:spPr>
          <a:xfrm>
            <a:off x="3152078" y="4182125"/>
            <a:ext cx="2839850" cy="762175"/>
          </a:xfrm>
          <a:prstGeom prst="rect">
            <a:avLst/>
          </a:prstGeom>
          <a:noFill/>
          <a:ln>
            <a:noFill/>
          </a:ln>
        </p:spPr>
      </p:pic>
      <p:pic>
        <p:nvPicPr>
          <p:cNvPr id="132" name="Google Shape;132;p21"/>
          <p:cNvPicPr preferRelativeResize="0"/>
          <p:nvPr/>
        </p:nvPicPr>
        <p:blipFill>
          <a:blip r:embed="rId4">
            <a:alphaModFix/>
          </a:blip>
          <a:stretch>
            <a:fillRect/>
          </a:stretch>
        </p:blipFill>
        <p:spPr>
          <a:xfrm>
            <a:off x="614075" y="1279738"/>
            <a:ext cx="3652648" cy="2859601"/>
          </a:xfrm>
          <a:prstGeom prst="rect">
            <a:avLst/>
          </a:prstGeom>
          <a:noFill/>
          <a:ln>
            <a:noFill/>
          </a:ln>
        </p:spPr>
      </p:pic>
      <p:pic>
        <p:nvPicPr>
          <p:cNvPr id="133" name="Google Shape;133;p21"/>
          <p:cNvPicPr preferRelativeResize="0"/>
          <p:nvPr/>
        </p:nvPicPr>
        <p:blipFill>
          <a:blip r:embed="rId5">
            <a:alphaModFix/>
          </a:blip>
          <a:stretch>
            <a:fillRect/>
          </a:stretch>
        </p:blipFill>
        <p:spPr>
          <a:xfrm>
            <a:off x="4621098" y="1279750"/>
            <a:ext cx="3476377" cy="2859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22"/>
          <p:cNvPicPr preferRelativeResize="0"/>
          <p:nvPr/>
        </p:nvPicPr>
        <p:blipFill>
          <a:blip r:embed="rId3">
            <a:alphaModFix/>
          </a:blip>
          <a:stretch>
            <a:fillRect/>
          </a:stretch>
        </p:blipFill>
        <p:spPr>
          <a:xfrm>
            <a:off x="152400" y="2688813"/>
            <a:ext cx="8839198" cy="628965"/>
          </a:xfrm>
          <a:prstGeom prst="rect">
            <a:avLst/>
          </a:prstGeom>
          <a:noFill/>
          <a:ln>
            <a:noFill/>
          </a:ln>
        </p:spPr>
      </p:pic>
      <p:sp>
        <p:nvSpPr>
          <p:cNvPr id="139" name="Google Shape;13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Controlling the Robot and Updating the Jacobian</a:t>
            </a:r>
            <a:endParaRPr/>
          </a:p>
        </p:txBody>
      </p:sp>
      <p:pic>
        <p:nvPicPr>
          <p:cNvPr id="140" name="Google Shape;140;p22"/>
          <p:cNvPicPr preferRelativeResize="0"/>
          <p:nvPr/>
        </p:nvPicPr>
        <p:blipFill>
          <a:blip r:embed="rId4">
            <a:alphaModFix/>
          </a:blip>
          <a:stretch>
            <a:fillRect/>
          </a:stretch>
        </p:blipFill>
        <p:spPr>
          <a:xfrm>
            <a:off x="242238" y="2233063"/>
            <a:ext cx="8749375" cy="455750"/>
          </a:xfrm>
          <a:prstGeom prst="rect">
            <a:avLst/>
          </a:prstGeom>
          <a:noFill/>
          <a:ln>
            <a:noFill/>
          </a:ln>
        </p:spPr>
      </p:pic>
      <p:sp>
        <p:nvSpPr>
          <p:cNvPr id="141" name="Google Shape;141;p22"/>
          <p:cNvSpPr/>
          <p:nvPr/>
        </p:nvSpPr>
        <p:spPr>
          <a:xfrm>
            <a:off x="917675"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p:nvPr/>
        </p:nvSpPr>
        <p:spPr>
          <a:xfrm>
            <a:off x="1339225"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p:nvPr/>
        </p:nvSpPr>
        <p:spPr>
          <a:xfrm>
            <a:off x="1767500"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2"/>
          <p:cNvSpPr/>
          <p:nvPr/>
        </p:nvSpPr>
        <p:spPr>
          <a:xfrm>
            <a:off x="2148675"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2"/>
          <p:cNvSpPr/>
          <p:nvPr/>
        </p:nvSpPr>
        <p:spPr>
          <a:xfrm>
            <a:off x="2556750"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2"/>
          <p:cNvSpPr/>
          <p:nvPr/>
        </p:nvSpPr>
        <p:spPr>
          <a:xfrm>
            <a:off x="2944650" y="2112725"/>
            <a:ext cx="4030500" cy="132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7" name="Google Shape;147;p22"/>
          <p:cNvPicPr preferRelativeResize="0"/>
          <p:nvPr/>
        </p:nvPicPr>
        <p:blipFill>
          <a:blip r:embed="rId5">
            <a:alphaModFix/>
          </a:blip>
          <a:stretch>
            <a:fillRect/>
          </a:stretch>
        </p:blipFill>
        <p:spPr>
          <a:xfrm>
            <a:off x="3252791" y="3676113"/>
            <a:ext cx="2638425" cy="708125"/>
          </a:xfrm>
          <a:prstGeom prst="rect">
            <a:avLst/>
          </a:prstGeom>
          <a:noFill/>
          <a:ln>
            <a:noFill/>
          </a:ln>
        </p:spPr>
      </p:pic>
      <p:sp>
        <p:nvSpPr>
          <p:cNvPr id="148" name="Google Shape;148;p22"/>
          <p:cNvSpPr/>
          <p:nvPr/>
        </p:nvSpPr>
        <p:spPr>
          <a:xfrm>
            <a:off x="917675" y="1991625"/>
            <a:ext cx="8323200" cy="1493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 name="Google Shape;149;p22"/>
          <p:cNvPicPr preferRelativeResize="0"/>
          <p:nvPr/>
        </p:nvPicPr>
        <p:blipFill>
          <a:blip r:embed="rId6">
            <a:alphaModFix/>
          </a:blip>
          <a:stretch>
            <a:fillRect/>
          </a:stretch>
        </p:blipFill>
        <p:spPr>
          <a:xfrm>
            <a:off x="3284186" y="1142625"/>
            <a:ext cx="1759489" cy="7240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2" fill="hold" nodeType="clickEffect">
                                  <p:stCondLst>
                                    <p:cond delay="0"/>
                                  </p:stCondLst>
                                  <p:childTnLst>
                                    <p:anim calcmode="lin" valueType="num">
                                      <p:cBhvr additive="base">
                                        <p:cTn id="12" dur="2800"/>
                                        <p:tgtEl>
                                          <p:spTgt spid="148"/>
                                        </p:tgtEl>
                                        <p:attrNameLst>
                                          <p:attrName>ppt_x</p:attrName>
                                        </p:attrNameLst>
                                      </p:cBhvr>
                                      <p:tavLst>
                                        <p:tav tm="0">
                                          <p:val>
                                            <p:strVal val="#ppt_x"/>
                                          </p:val>
                                        </p:tav>
                                        <p:tav tm="100000">
                                          <p:val>
                                            <p:strVal val="#ppt_x+1"/>
                                          </p:val>
                                        </p:tav>
                                      </p:tavLst>
                                    </p:anim>
                                    <p:set>
                                      <p:cBhvr>
                                        <p:cTn id="13" dur="1" fill="hold">
                                          <p:stCondLst>
                                            <p:cond delay="2800"/>
                                          </p:stCondLst>
                                        </p:cTn>
                                        <p:tgtEl>
                                          <p:spTgt spid="14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4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4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2"/>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141"/>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3"/>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14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44"/>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14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45"/>
                                        </p:tgtEl>
                                        <p:attrNameLst>
                                          <p:attrName>style.visibility</p:attrName>
                                        </p:attrNameLst>
                                      </p:cBhvr>
                                      <p:to>
                                        <p:strVal val="visible"/>
                                      </p:to>
                                    </p:set>
                                  </p:childTnLst>
                                </p:cTn>
                              </p:par>
                              <p:par>
                                <p:cTn id="42" presetID="1" presetClass="exit" presetSubtype="0" fill="hold" nodeType="withEffect">
                                  <p:stCondLst>
                                    <p:cond delay="0"/>
                                  </p:stCondLst>
                                  <p:childTnLst>
                                    <p:set>
                                      <p:cBhvr>
                                        <p:cTn id="43" dur="1" fill="hold">
                                          <p:stCondLst>
                                            <p:cond delay="0"/>
                                          </p:stCondLst>
                                        </p:cTn>
                                        <p:tgtEl>
                                          <p:spTgt spid="144"/>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46"/>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1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Demo</a:t>
            </a:r>
            <a:endParaRPr/>
          </a:p>
        </p:txBody>
      </p:sp>
      <p:pic>
        <p:nvPicPr>
          <p:cNvPr id="155" name="Google Shape;155;p23" title="Demo Video.mp4">
            <a:hlinkClick r:id="rId3"/>
          </p:cNvPr>
          <p:cNvPicPr preferRelativeResize="0"/>
          <p:nvPr/>
        </p:nvPicPr>
        <p:blipFill>
          <a:blip r:embed="rId4">
            <a:alphaModFix/>
          </a:blip>
          <a:stretch>
            <a:fillRect/>
          </a:stretch>
        </p:blipFill>
        <p:spPr>
          <a:xfrm>
            <a:off x="2286000" y="1241125"/>
            <a:ext cx="4572000" cy="342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a:t>
            </a:r>
            <a:endParaRPr/>
          </a:p>
        </p:txBody>
      </p:sp>
      <p:pic>
        <p:nvPicPr>
          <p:cNvPr id="161" name="Google Shape;161;p24"/>
          <p:cNvPicPr preferRelativeResize="0"/>
          <p:nvPr/>
        </p:nvPicPr>
        <p:blipFill>
          <a:blip r:embed="rId3">
            <a:alphaModFix/>
          </a:blip>
          <a:stretch>
            <a:fillRect/>
          </a:stretch>
        </p:blipFill>
        <p:spPr>
          <a:xfrm>
            <a:off x="4572000" y="1170125"/>
            <a:ext cx="4343401" cy="3257556"/>
          </a:xfrm>
          <a:prstGeom prst="rect">
            <a:avLst/>
          </a:prstGeom>
          <a:noFill/>
          <a:ln>
            <a:noFill/>
          </a:ln>
        </p:spPr>
      </p:pic>
      <p:pic>
        <p:nvPicPr>
          <p:cNvPr id="162" name="Google Shape;162;p24"/>
          <p:cNvPicPr preferRelativeResize="0"/>
          <p:nvPr/>
        </p:nvPicPr>
        <p:blipFill>
          <a:blip r:embed="rId4">
            <a:alphaModFix/>
          </a:blip>
          <a:stretch>
            <a:fillRect/>
          </a:stretch>
        </p:blipFill>
        <p:spPr>
          <a:xfrm>
            <a:off x="187866" y="1170125"/>
            <a:ext cx="4343409" cy="3257550"/>
          </a:xfrm>
          <a:prstGeom prst="rect">
            <a:avLst/>
          </a:prstGeom>
          <a:noFill/>
          <a:ln>
            <a:noFill/>
          </a:ln>
        </p:spPr>
      </p:pic>
      <p:sp>
        <p:nvSpPr>
          <p:cNvPr id="163" name="Google Shape;163;p24"/>
          <p:cNvSpPr txBox="1"/>
          <p:nvPr/>
        </p:nvSpPr>
        <p:spPr>
          <a:xfrm>
            <a:off x="1329225" y="4588700"/>
            <a:ext cx="2126700" cy="2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Embedded Strings</a:t>
            </a:r>
            <a:endParaRPr/>
          </a:p>
        </p:txBody>
      </p:sp>
      <p:sp>
        <p:nvSpPr>
          <p:cNvPr id="164" name="Google Shape;164;p24"/>
          <p:cNvSpPr txBox="1"/>
          <p:nvPr/>
        </p:nvSpPr>
        <p:spPr>
          <a:xfrm>
            <a:off x="6021950" y="4600250"/>
            <a:ext cx="1907100" cy="2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External Strings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 and Future Work</a:t>
            </a:r>
            <a:endParaRPr/>
          </a:p>
        </p:txBody>
      </p:sp>
      <p:sp>
        <p:nvSpPr>
          <p:cNvPr id="170" name="Google Shape;170;p25"/>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a:t>Conclusion:</a:t>
            </a:r>
            <a:endParaRPr/>
          </a:p>
          <a:p>
            <a:pPr marL="0" lvl="0" indent="0" algn="l" rtl="0">
              <a:lnSpc>
                <a:spcPct val="115000"/>
              </a:lnSpc>
              <a:spcBef>
                <a:spcPts val="0"/>
              </a:spcBef>
              <a:spcAft>
                <a:spcPts val="0"/>
              </a:spcAft>
              <a:buClr>
                <a:srgbClr val="000000"/>
              </a:buClr>
              <a:buSzPts val="1100"/>
              <a:buFont typeface="Arial"/>
              <a:buNone/>
            </a:pPr>
            <a:r>
              <a:rPr lang="en"/>
              <a:t>Local Jacobian gives a reliable estimate of robot dynamics</a:t>
            </a:r>
            <a:endParaRPr/>
          </a:p>
          <a:p>
            <a:pPr marL="0" lvl="0" indent="0" algn="l" rtl="0">
              <a:lnSpc>
                <a:spcPct val="115000"/>
              </a:lnSpc>
              <a:spcBef>
                <a:spcPts val="0"/>
              </a:spcBef>
              <a:spcAft>
                <a:spcPts val="0"/>
              </a:spcAft>
              <a:buClr>
                <a:srgbClr val="000000"/>
              </a:buClr>
              <a:buSzPts val="1100"/>
              <a:buFont typeface="Arial"/>
              <a:buNone/>
            </a:pPr>
            <a:r>
              <a:rPr lang="en"/>
              <a:t>Jacobian accounts for all non-linearities including string tautness, manufacturing errors, broken servo</a:t>
            </a:r>
            <a:endParaRPr/>
          </a:p>
          <a:p>
            <a:pPr marL="0" lvl="0" indent="0" algn="l" rtl="0">
              <a:lnSpc>
                <a:spcPct val="115000"/>
              </a:lnSpc>
              <a:spcBef>
                <a:spcPts val="0"/>
              </a:spcBef>
              <a:spcAft>
                <a:spcPts val="0"/>
              </a:spcAft>
              <a:buNone/>
            </a:pPr>
            <a:r>
              <a:rPr lang="en"/>
              <a:t>Model-free control is the future</a:t>
            </a:r>
            <a:endParaRPr/>
          </a:p>
          <a:p>
            <a:pPr marL="0" lvl="0" indent="0" algn="l" rtl="0">
              <a:spcBef>
                <a:spcPts val="0"/>
              </a:spcBef>
              <a:spcAft>
                <a:spcPts val="0"/>
              </a:spcAft>
              <a:buNone/>
            </a:pPr>
            <a:endParaRPr/>
          </a:p>
          <a:p>
            <a:pPr marL="0" lvl="0" indent="0" algn="l" rtl="0">
              <a:spcBef>
                <a:spcPts val="1600"/>
              </a:spcBef>
              <a:spcAft>
                <a:spcPts val="0"/>
              </a:spcAft>
              <a:buNone/>
            </a:pPr>
            <a:r>
              <a:rPr lang="en"/>
              <a:t>Future work:</a:t>
            </a:r>
            <a:endParaRPr/>
          </a:p>
          <a:p>
            <a:pPr marL="457200" lvl="0" indent="-342900" algn="l" rtl="0">
              <a:spcBef>
                <a:spcPts val="1600"/>
              </a:spcBef>
              <a:spcAft>
                <a:spcPts val="0"/>
              </a:spcAft>
              <a:buSzPts val="1800"/>
              <a:buChar char="●"/>
            </a:pPr>
            <a:r>
              <a:rPr lang="en"/>
              <a:t>Vessel sized robot arm</a:t>
            </a:r>
            <a:endParaRPr/>
          </a:p>
          <a:p>
            <a:pPr marL="457200" lvl="0" indent="-342900" algn="l" rtl="0">
              <a:spcBef>
                <a:spcPts val="0"/>
              </a:spcBef>
              <a:spcAft>
                <a:spcPts val="0"/>
              </a:spcAft>
              <a:buSzPts val="1800"/>
              <a:buChar char="●"/>
            </a:pPr>
            <a:r>
              <a:rPr lang="en"/>
              <a:t>Growth as additional DOF (remove kinematic lock)</a:t>
            </a:r>
            <a:endParaRPr/>
          </a:p>
          <a:p>
            <a:pPr marL="457200" lvl="0" indent="-342900" algn="l" rtl="0">
              <a:spcBef>
                <a:spcPts val="0"/>
              </a:spcBef>
              <a:spcAft>
                <a:spcPts val="0"/>
              </a:spcAft>
              <a:buSzPts val="1800"/>
              <a:buChar char="●"/>
            </a:pPr>
            <a:r>
              <a:rPr lang="en"/>
              <a:t>Pressure-driven arm</a:t>
            </a:r>
            <a:endParaRPr/>
          </a:p>
          <a:p>
            <a:pPr marL="457200" lvl="0" indent="-342900" algn="l" rtl="0">
              <a:spcBef>
                <a:spcPts val="0"/>
              </a:spcBef>
              <a:spcAft>
                <a:spcPts val="0"/>
              </a:spcAft>
              <a:buSzPts val="1800"/>
              <a:buChar char="●"/>
            </a:pPr>
            <a:r>
              <a:rPr lang="en"/>
              <a:t>Connected as end-effector to soft catheter robot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Appendix</a:t>
            </a:r>
            <a:endParaRPr/>
          </a:p>
        </p:txBody>
      </p:sp>
      <p:sp>
        <p:nvSpPr>
          <p:cNvPr id="181" name="Google Shape;18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457200" algn="just" rtl="0">
              <a:lnSpc>
                <a:spcPct val="100000"/>
              </a:lnSpc>
              <a:spcBef>
                <a:spcPts val="0"/>
              </a:spcBef>
              <a:spcAft>
                <a:spcPts val="0"/>
              </a:spcAft>
              <a:buClr>
                <a:srgbClr val="000000"/>
              </a:buClr>
              <a:buSzPts val="1100"/>
              <a:buFont typeface="Arial"/>
              <a:buNone/>
            </a:pPr>
            <a:r>
              <a:rPr lang="en" sz="1400">
                <a:solidFill>
                  <a:srgbClr val="000000"/>
                </a:solidFill>
                <a:latin typeface="Arial"/>
                <a:ea typeface="Arial"/>
                <a:cs typeface="Arial"/>
                <a:sym typeface="Arial"/>
              </a:rPr>
              <a:t>The non-parametric numerical Jacobian method has been used to control a 2-cable driven soft arm moving in 2D space [5], and a hydraulically actuated 3-chamber soft arm for endoscopy [6].</a:t>
            </a: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r>
              <a:rPr lang="en" sz="1400">
                <a:solidFill>
                  <a:srgbClr val="000000"/>
                </a:solidFill>
                <a:latin typeface="Arial"/>
                <a:ea typeface="Arial"/>
                <a:cs typeface="Arial"/>
                <a:sym typeface="Arial"/>
              </a:rPr>
              <a:t>M. C. Yip and D. B. Camarillo, “Model-less Hybrid Position/Force control: A Minimalist Approach for Continuum Manipulators in Unknown, Constrained Environments,” </a:t>
            </a:r>
            <a:r>
              <a:rPr lang="en" sz="1400" i="1">
                <a:solidFill>
                  <a:srgbClr val="000000"/>
                </a:solidFill>
                <a:latin typeface="Arial"/>
                <a:ea typeface="Arial"/>
                <a:cs typeface="Arial"/>
                <a:sym typeface="Arial"/>
              </a:rPr>
              <a:t>IEEE Robot. Autom. Lett.</a:t>
            </a:r>
            <a:r>
              <a:rPr lang="en" sz="1400">
                <a:solidFill>
                  <a:srgbClr val="000000"/>
                </a:solidFill>
                <a:latin typeface="Arial"/>
                <a:ea typeface="Arial"/>
                <a:cs typeface="Arial"/>
                <a:sym typeface="Arial"/>
              </a:rPr>
              <a:t>, vol. 1, no. 2, pp. 844–851, 2016.</a:t>
            </a: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r>
              <a:rPr lang="en" sz="1400">
                <a:solidFill>
                  <a:srgbClr val="000000"/>
                </a:solidFill>
                <a:latin typeface="Arial"/>
                <a:ea typeface="Arial"/>
                <a:cs typeface="Arial"/>
                <a:sym typeface="Arial"/>
              </a:rPr>
              <a:t>K.-H. Lee </a:t>
            </a:r>
            <a:r>
              <a:rPr lang="en" sz="1400" i="1">
                <a:solidFill>
                  <a:srgbClr val="000000"/>
                </a:solidFill>
                <a:latin typeface="Arial"/>
                <a:ea typeface="Arial"/>
                <a:cs typeface="Arial"/>
                <a:sym typeface="Arial"/>
              </a:rPr>
              <a:t>et al.</a:t>
            </a:r>
            <a:r>
              <a:rPr lang="en" sz="1400">
                <a:solidFill>
                  <a:srgbClr val="000000"/>
                </a:solidFill>
                <a:latin typeface="Arial"/>
                <a:ea typeface="Arial"/>
                <a:cs typeface="Arial"/>
                <a:sym typeface="Arial"/>
              </a:rPr>
              <a:t>, “Nonparametric Online Learning Control for Soft Continuum Robot: An Enabling Technique for Effective Endoscopic Navigation,” </a:t>
            </a:r>
            <a:r>
              <a:rPr lang="en" sz="1400" i="1">
                <a:solidFill>
                  <a:srgbClr val="000000"/>
                </a:solidFill>
                <a:latin typeface="Arial"/>
                <a:ea typeface="Arial"/>
                <a:cs typeface="Arial"/>
                <a:sym typeface="Arial"/>
              </a:rPr>
              <a:t>Soft Robot.</a:t>
            </a:r>
            <a:r>
              <a:rPr lang="en" sz="1400">
                <a:solidFill>
                  <a:srgbClr val="000000"/>
                </a:solidFill>
                <a:latin typeface="Arial"/>
                <a:ea typeface="Arial"/>
                <a:cs typeface="Arial"/>
                <a:sym typeface="Arial"/>
              </a:rPr>
              <a:t>, vol. 4, no. 4, p. soro.2016.0065, 2017.</a:t>
            </a: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r>
              <a:rPr lang="en" sz="1400">
                <a:solidFill>
                  <a:srgbClr val="000000"/>
                </a:solidFill>
                <a:latin typeface="Arial"/>
                <a:ea typeface="Arial"/>
                <a:cs typeface="Arial"/>
                <a:sym typeface="Arial"/>
              </a:rPr>
              <a:t>Liu et al. Iterative Jacobian-Based Inverse Kinematics and Open-Loop Control of an MRI-Guided Magnetically Actuated Steerable Catheter System</a:t>
            </a:r>
            <a:endParaRPr sz="1400">
              <a:solidFill>
                <a:srgbClr val="000000"/>
              </a:solidFill>
              <a:latin typeface="Arial"/>
              <a:ea typeface="Arial"/>
              <a:cs typeface="Arial"/>
              <a:sym typeface="Arial"/>
            </a:endParaRPr>
          </a:p>
          <a:p>
            <a:pPr marL="406400" lvl="0" indent="-406400" algn="l" rtl="0">
              <a:lnSpc>
                <a:spcPct val="100000"/>
              </a:lnSpc>
              <a:spcBef>
                <a:spcPts val="0"/>
              </a:spcBef>
              <a:spcAft>
                <a:spcPts val="0"/>
              </a:spcAft>
              <a:buClr>
                <a:srgbClr val="000000"/>
              </a:buClr>
              <a:buSzPts val="1100"/>
              <a:buFont typeface="Arial"/>
              <a:buNone/>
            </a:pPr>
            <a:r>
              <a:rPr lang="en" sz="1400">
                <a:solidFill>
                  <a:srgbClr val="000000"/>
                </a:solidFill>
                <a:latin typeface="Arial"/>
                <a:ea typeface="Arial"/>
                <a:cs typeface="Arial"/>
                <a:sym typeface="Arial"/>
              </a:rPr>
              <a:t> IEEE/ASME TRANSACTIONS ON MECHATRONICS, VOL. 22, NO. 4, AUGUST 2017</a:t>
            </a:r>
            <a:endParaRPr sz="1400">
              <a:solidFill>
                <a:srgbClr val="000000"/>
              </a:solidFill>
              <a:latin typeface="Arial"/>
              <a:ea typeface="Arial"/>
              <a:cs typeface="Arial"/>
              <a:sym typeface="Arial"/>
            </a:endParaRPr>
          </a:p>
          <a:p>
            <a:pPr marL="0" lvl="0" indent="0" algn="l" rtl="0">
              <a:spcBef>
                <a:spcPts val="0"/>
              </a:spcBef>
              <a:spcAft>
                <a:spcPts val="1600"/>
              </a:spcAft>
              <a:buNone/>
            </a:pPr>
            <a:endParaRPr sz="1400"/>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1474</Words>
  <Application>Microsoft Office PowerPoint</Application>
  <PresentationFormat>On-screen Show (16:9)</PresentationFormat>
  <Paragraphs>123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Average</vt:lpstr>
      <vt:lpstr>Oswald</vt:lpstr>
      <vt:lpstr>Slate</vt:lpstr>
      <vt:lpstr>Position tracking of soft robot end-effector using estimated Jacobian</vt:lpstr>
      <vt:lpstr>Agenda</vt:lpstr>
      <vt:lpstr>Background</vt:lpstr>
      <vt:lpstr>Background</vt:lpstr>
      <vt:lpstr>Background</vt:lpstr>
      <vt:lpstr>The gap and how we address it</vt:lpstr>
      <vt:lpstr>Experimental Setup</vt:lpstr>
      <vt:lpstr>Jacobian estimation using least squares</vt:lpstr>
      <vt:lpstr>Finding the Initial Jacobian</vt:lpstr>
      <vt:lpstr>Controlling the Robot and Updating the Jacobian</vt:lpstr>
      <vt:lpstr>Demo</vt:lpstr>
      <vt:lpstr>Results</vt:lpstr>
      <vt:lpstr>Conclusion and Future Work</vt:lpstr>
      <vt:lpstr>Questions</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Orla Gotthelf</cp:lastModifiedBy>
  <cp:revision>1</cp:revision>
  <dcterms:modified xsi:type="dcterms:W3CDTF">2025-11-21T14:22:29Z</dcterms:modified>
</cp:coreProperties>
</file>